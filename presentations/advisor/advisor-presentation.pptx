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641a8a93fa49c1" /><Relationship Type="http://schemas.openxmlformats.org/officeDocument/2006/relationships/extended-properties" Target="/docProps/app.xml" Id="R77d611f04aad43f7" /><Relationship Type="http://schemas.openxmlformats.org/officeDocument/2006/relationships/officeDocument" Target="/ppt/presentation.xml" Id="Re72247403ec74422" /></Relationships>
</file>

<file path=ppt/presentation.xml><?xml version="1.0" encoding="utf-8"?>
<p:presentation xmlns:p="http://schemas.openxmlformats.org/presentationml/2006/main">
  <p:sldMasterIdLst>
    <p:sldMasterId xmlns:r="http://schemas.openxmlformats.org/officeDocument/2006/relationships" id="2147483648" r:id="Rb308ea0a3466485b"/>
  </p:sldMasterIdLst>
  <p:notesMasterIdLst>
    <p:notesMasterId xmlns:r="http://schemas.openxmlformats.org/officeDocument/2006/relationships" r:id="Rfe13fcba004549f0"/>
  </p:notesMasterIdLst>
  <p:sldIdLst>
    <p:sldId xmlns:r="http://schemas.openxmlformats.org/officeDocument/2006/relationships" id="256" r:id="R61a38143330540a0"/>
    <p:sldId xmlns:r="http://schemas.openxmlformats.org/officeDocument/2006/relationships" id="257" r:id="Rd761f00402bc4d56"/>
    <p:sldId xmlns:r="http://schemas.openxmlformats.org/officeDocument/2006/relationships" id="258" r:id="Ra034c275fa704099"/>
    <p:sldId xmlns:r="http://schemas.openxmlformats.org/officeDocument/2006/relationships" id="259" r:id="R2983601537c04d16"/>
    <p:sldId xmlns:r="http://schemas.openxmlformats.org/officeDocument/2006/relationships" id="260" r:id="R65e1aba34c6040f7"/>
    <p:sldId xmlns:r="http://schemas.openxmlformats.org/officeDocument/2006/relationships" id="261" r:id="R12906f79db774d8d"/>
    <p:sldId xmlns:r="http://schemas.openxmlformats.org/officeDocument/2006/relationships" id="262" r:id="Rabdc3096227a458f"/>
    <p:sldId xmlns:r="http://schemas.openxmlformats.org/officeDocument/2006/relationships" id="263" r:id="R99914ebacb9d4601"/>
    <p:sldId xmlns:r="http://schemas.openxmlformats.org/officeDocument/2006/relationships" id="264" r:id="R7b6ef7e6744042e0"/>
    <p:sldId xmlns:r="http://schemas.openxmlformats.org/officeDocument/2006/relationships" id="265" r:id="R7660c4cfdb0640f6"/>
    <p:sldId xmlns:r="http://schemas.openxmlformats.org/officeDocument/2006/relationships" id="266" r:id="R68fd2d2ddf2e44c0"/>
    <p:sldId xmlns:r="http://schemas.openxmlformats.org/officeDocument/2006/relationships" id="267" r:id="Rb08805e10bbd4f7b"/>
    <p:sldId xmlns:r="http://schemas.openxmlformats.org/officeDocument/2006/relationships" id="268" r:id="R80d40c309f284e61"/>
    <p:sldId xmlns:r="http://schemas.openxmlformats.org/officeDocument/2006/relationships" id="269" r:id="R3d050c02b5634231"/>
    <p:sldId xmlns:r="http://schemas.openxmlformats.org/officeDocument/2006/relationships" id="270" r:id="R21ab0f321c1f49f0"/>
    <p:sldId xmlns:r="http://schemas.openxmlformats.org/officeDocument/2006/relationships" id="271" r:id="R062131b1409441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0b702e7744edb" /><Relationship Type="http://schemas.openxmlformats.org/officeDocument/2006/relationships/slideMaster" Target="/ppt/slideMasters/slideMaster1.xml" Id="Rb308ea0a3466485b" /><Relationship Type="http://schemas.openxmlformats.org/officeDocument/2006/relationships/notesMaster" Target="/ppt/notesMasters/notesMaster1.xml" Id="Rfe13fcba004549f0" /><Relationship Type="http://schemas.openxmlformats.org/officeDocument/2006/relationships/presProps" Target="/ppt/presProps.xml" Id="Rd9ccbd4874ba45de" /><Relationship Type="http://schemas.openxmlformats.org/officeDocument/2006/relationships/tableStyles" Target="/ppt/tableStyles.xml" Id="R8468ef928a674d12" /><Relationship Type="http://schemas.openxmlformats.org/officeDocument/2006/relationships/slide" Target="/ppt/slides/slide1.xml" Id="R61a38143330540a0" /><Relationship Type="http://schemas.openxmlformats.org/officeDocument/2006/relationships/slide" Target="/ppt/slides/slide2.xml" Id="Rd761f00402bc4d56" /><Relationship Type="http://schemas.openxmlformats.org/officeDocument/2006/relationships/slide" Target="/ppt/slides/slide3.xml" Id="Ra034c275fa704099" /><Relationship Type="http://schemas.openxmlformats.org/officeDocument/2006/relationships/slide" Target="/ppt/slides/slide4.xml" Id="R2983601537c04d16" /><Relationship Type="http://schemas.openxmlformats.org/officeDocument/2006/relationships/slide" Target="/ppt/slides/slide5.xml" Id="R65e1aba34c6040f7" /><Relationship Type="http://schemas.openxmlformats.org/officeDocument/2006/relationships/slide" Target="/ppt/slides/slide6.xml" Id="R12906f79db774d8d" /><Relationship Type="http://schemas.openxmlformats.org/officeDocument/2006/relationships/slide" Target="/ppt/slides/slide7.xml" Id="Rabdc3096227a458f" /><Relationship Type="http://schemas.openxmlformats.org/officeDocument/2006/relationships/slide" Target="/ppt/slides/slide8.xml" Id="R99914ebacb9d4601" /><Relationship Type="http://schemas.openxmlformats.org/officeDocument/2006/relationships/slide" Target="/ppt/slides/slide9.xml" Id="R7b6ef7e6744042e0" /><Relationship Type="http://schemas.openxmlformats.org/officeDocument/2006/relationships/slide" Target="/ppt/slides/slide10.xml" Id="R7660c4cfdb0640f6" /><Relationship Type="http://schemas.openxmlformats.org/officeDocument/2006/relationships/slide" Target="/ppt/slides/slide11.xml" Id="R68fd2d2ddf2e44c0" /><Relationship Type="http://schemas.openxmlformats.org/officeDocument/2006/relationships/slide" Target="/ppt/slides/slide12.xml" Id="Rb08805e10bbd4f7b" /><Relationship Type="http://schemas.openxmlformats.org/officeDocument/2006/relationships/slide" Target="/ppt/slides/slide13.xml" Id="R80d40c309f284e61" /><Relationship Type="http://schemas.openxmlformats.org/officeDocument/2006/relationships/slide" Target="/ppt/slides/slide14.xml" Id="R3d050c02b5634231" /><Relationship Type="http://schemas.openxmlformats.org/officeDocument/2006/relationships/slide" Target="/ppt/slides/slide15.xml" Id="R21ab0f321c1f49f0" /><Relationship Type="http://schemas.openxmlformats.org/officeDocument/2006/relationships/slide" Target="/ppt/slides/slide16.xml" Id="R062131b1409441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ec0111e8e442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182B3B"/>
      </a:hlink>
      <a:folHlink>
        <a:srgbClr val="182B3B"/>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6ef8beb7f74491" /><Relationship Type="http://schemas.openxmlformats.org/officeDocument/2006/relationships/notesMaster" Target="/ppt/notesMasters/notesMaster1.xml" Id="Rf32ef0008abf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4b866935684b19" /><Relationship Type="http://schemas.openxmlformats.org/officeDocument/2006/relationships/notesMaster" Target="/ppt/notesMasters/notesMaster1.xml" Id="R9ae594f51fbd4b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a7e00009d44236" /><Relationship Type="http://schemas.openxmlformats.org/officeDocument/2006/relationships/notesMaster" Target="/ppt/notesMasters/notesMaster1.xml" Id="R55afd2b9bb494e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934387bb9b4749" /><Relationship Type="http://schemas.openxmlformats.org/officeDocument/2006/relationships/notesMaster" Target="/ppt/notesMasters/notesMaster1.xml" Id="Rac82c76cf7504a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7389251a164873" /><Relationship Type="http://schemas.openxmlformats.org/officeDocument/2006/relationships/notesMaster" Target="/ppt/notesMasters/notesMaster1.xml" Id="Ra3139e11ffea4f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30054fc6e748c0" /><Relationship Type="http://schemas.openxmlformats.org/officeDocument/2006/relationships/notesMaster" Target="/ppt/notesMasters/notesMaster1.xml" Id="R85194d8aca3348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ce4065b16e48e6" /><Relationship Type="http://schemas.openxmlformats.org/officeDocument/2006/relationships/notesMaster" Target="/ppt/notesMasters/notesMaster1.xml" Id="Rd539d45288a44b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01ab009c6342ec" /><Relationship Type="http://schemas.openxmlformats.org/officeDocument/2006/relationships/notesMaster" Target="/ppt/notesMasters/notesMaster1.xml" Id="R9f63612f7b9246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5ba3cab77a4956" /><Relationship Type="http://schemas.openxmlformats.org/officeDocument/2006/relationships/notesMaster" Target="/ppt/notesMasters/notesMaster1.xml" Id="Rae19e82e460b4f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9db908362f4076" /><Relationship Type="http://schemas.openxmlformats.org/officeDocument/2006/relationships/notesMaster" Target="/ppt/notesMasters/notesMaster1.xml" Id="Rf1dfad162c484d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eb65ccbbf74b60" /><Relationship Type="http://schemas.openxmlformats.org/officeDocument/2006/relationships/notesMaster" Target="/ppt/notesMasters/notesMaster1.xml" Id="R0c930ac6d1a143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f44edb4ade4713" /><Relationship Type="http://schemas.openxmlformats.org/officeDocument/2006/relationships/notesMaster" Target="/ppt/notesMasters/notesMaster1.xml" Id="Ra8cad969fc834c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c5091a9761409c" /><Relationship Type="http://schemas.openxmlformats.org/officeDocument/2006/relationships/notesMaster" Target="/ppt/notesMasters/notesMaster1.xml" Id="Rf3cbbe3aa8a04e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9ece7d9a14e28" /><Relationship Type="http://schemas.openxmlformats.org/officeDocument/2006/relationships/notesMaster" Target="/ppt/notesMasters/notesMaster1.xml" Id="R862fa7011961412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fd230414dc46f2" /><Relationship Type="http://schemas.openxmlformats.org/officeDocument/2006/relationships/notesMaster" Target="/ppt/notesMasters/notesMaster1.xml" Id="R159bf610b4084e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e4efb02b324915" /><Relationship Type="http://schemas.openxmlformats.org/officeDocument/2006/relationships/notesMaster" Target="/ppt/notesMasters/notesMaster1.xml" Id="R6079d3f1467544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0:30. Начало: 0:00.</a:t>
            </a:r>
          </a:p>
          <a:p xmlns:a="http://schemas.openxmlformats.org/drawingml/2006/main">
            <a:r>
              <a:t/>
            </a:r>
          </a:p>
          <a:p xmlns:a="http://schemas.openxmlformats.org/drawingml/2006/main">
            <a:r>
              <a:t>Мы предлагаем исследовать, как организовать работу языкового агента, чтобы отдельные решения внутри него требовали меньше затрат при допустимом качестве. Сначала поясню, что мы называем агентом и что он должен делать. Затем покажу, какую часть его работы предлагаем менять, как сформулировать математическую задачу и как проверить результат. Прикладная задача — обработка сервисных обращений: пользователь задаёт вопрос, система обращается к базе знаний и при необходимости выполняет операции. Сейчас подготовлены постановка и обзор существующих средств. Работающего агента и собственных экспериментальных результатов пока нет. Презентация описывает предлагаемое исследование и следующий этап работы.</a:t>
            </a:r>
          </a:p>
          <a:p xmlns:a="http://schemas.openxmlformats.org/drawingml/2006/main">
            <a:r>
              <a:t/>
            </a:r>
          </a:p>
          <a:p xmlns:a="http://schemas.openxmlformats.org/drawingml/2006/main">
            <a:r>
              <a:t>Источники:</a:t>
            </a:r>
          </a:p>
          <a:p xmlns:a="http://schemas.openxmlformats.org/drawingml/2006/main">
            <a:r>
              <a:t>docs/research.md</a:t>
            </a:r>
          </a:p>
          <a:p xmlns:a="http://schemas.openxmlformats.org/drawingml/2006/main">
            <a:r>
              <a:t>docs/research-overview.md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0:30.</a:t>
            </a:r>
          </a:p>
          <a:p xmlns:a="http://schemas.openxmlformats.org/drawingml/2006/main">
            <a:r>
              <a:t/>
            </a:r>
          </a:p>
          <a:p xmlns:a="http://schemas.openxmlformats.org/drawingml/2006/main">
            <a:r>
              <a:t>Языковая модель, или LLM, — это модель вроде той, с которой пользователь общается в ChatGPT. В нашей системе она также понимает текст и формирует ответы. Но для выполнения сервисного обращения ей нужны внешние сведения и возможность действовать. Поэтому агент включает несколько связанных частей. База знаний хранит инструкции и правила предметной области. Инструменты — обычные программные функции: найти документ, прочитать сведения об обращении или выполнить предусмотренную операцию. Управляющая программа передаёт модели историю общения и доступные действия. Когда модель выбирает вызов инструмента, программа выполняет его, получает результат и добавляет его в историю. После этого модель может выбрать следующий шаг. Именно такой код организации работы в технических источниках называют harness. Дальше я буду говорить «управляющая программа». Важное отличие от привычного разговора с чат-ботом заключается в том, что мы проверяем и выполненные действия, и состояние системы после них. Наша задача — собрать воспроизводимый агент для такой среды и исследовать отдельные решения внутри него. Мы переиспользуем готовую языковую модель и готовую тестовую среду.</a:t>
            </a:r>
          </a:p>
          <a:p xmlns:a="http://schemas.openxmlformats.org/drawingml/2006/main">
            <a:r>
              <a:t/>
            </a:r>
          </a:p>
          <a:p xmlns:a="http://schemas.openxmlformats.org/drawingml/2006/main">
            <a:r>
              <a:t>Источники:</a:t>
            </a:r>
          </a:p>
          <a:p xmlns:a="http://schemas.openxmlformats.org/drawingml/2006/main">
            <a:r>
              <a:t>docs/research.md#выбранное-направление-агента</a:t>
            </a:r>
          </a:p>
          <a:p xmlns:a="http://schemas.openxmlformats.org/drawingml/2006/main">
            <a:r>
              <a:t>docs/research.md#термины-и-кандидаты-моделей</a:t>
            </a:r>
          </a:p>
          <a:p xmlns:a="http://schemas.openxmlformats.org/drawingml/2006/main">
            <a:r>
              <a:t>docs/tau-bench-review.md#подключение-собственного-harness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1:20. Начало: 1:45.</a:t>
            </a:r>
          </a:p>
          <a:p xmlns:a="http://schemas.openxmlformats.org/drawingml/2006/main">
            <a:r>
              <a:t/>
            </a:r>
          </a:p>
          <a:p xmlns:a="http://schemas.openxmlformats.org/drawingml/2006/main">
            <a:r>
              <a:t>На верхней схеме показана работа агента. Пользователь отправляет запрос. Модель с помощью управляющей программы выбирает следующий шаг: уточнить данные, искать инструкцию или вызвать инструмент. Ответ пользователя или результат инструмента добавляется в историю, и модель выбирает следующий шаг. Цикл повторяется, пока агент не закончит обращение или не достигнет установленного ограничения. Если нужен ответ пользователя, он также становится частью следующего шага. Таким образом, один запрос не обязательно равен одному вызову модели. На нижней схеме показано, как мы проверяем эту работу. Тестовая среда задаёт начальные данные и скрытое задание пользователя. Затем симулированный пользователь ведёт диалог с агентом, а инструменты меняют состояние тестовой системы. После завершения штатная проверка сопоставляет итоговое состояние и действия с критериями задачи. Мы отдельно записываем, удалось ли обращение, сколько потребовалось вызовов и сколько времени оно заняло. Проверка не сводится к тому, насколько убедительно звучит ответ. Для сравнения запускаем те же обращения с разными вариантами одного узла агента. В исходном варианте решение принимает языковая модель, в других вариантах — выбранный более дешёвый метод. Поэтому можем наблюдать последствия замены для всего обращения.</a:t>
            </a:r>
          </a:p>
          <a:p xmlns:a="http://schemas.openxmlformats.org/drawingml/2006/main">
            <a:r>
              <a:t/>
            </a:r>
          </a:p>
          <a:p xmlns:a="http://schemas.openxmlformats.org/drawingml/2006/main">
            <a:r>
              <a:t>docs/tau-bench-review.md#семейство-и-состав</a:t>
            </a:r>
          </a:p>
          <a:p xmlns:a="http://schemas.openxmlformats.org/drawingml/2006/main">
            <a:r>
              <a:t>docs/tau-bench-review.md#оценивание</a:t>
            </a:r>
          </a:p>
          <a:p xmlns:a="http://schemas.openxmlformats.org/drawingml/2006/main">
            <a:r>
              <a:t>docs/research.md#основа-протокола-оценки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3:05.</a:t>
            </a:r>
          </a:p>
          <a:p xmlns:a="http://schemas.openxmlformats.org/drawingml/2006/main">
            <a:r>
              <a:t/>
            </a:r>
          </a:p>
          <a:p xmlns:a="http://schemas.openxmlformats.org/drawingml/2006/main">
            <a:r>
              <a:t>Теперь выделим один небольшой вопрос внутри описанного цикла. Например, по текущей истории надо выбрать следующее действие из заранее заданных вариантов: уточнить сведения, искать документ или передать обращение оператору. Это пример возможного узла, а не уже выбранная окончательная задача. Обычная языковая модель может решить такой вопрос, но мы хотим проверить другие способы. Типизированная модель получает описание ситуации и допустимые варианты. Она возвращает выбор и вероятности вариантов. Типизированным мы называем выход с заранее определённой структурой: программа знает, какие ответы допустимы и как их обработать. В математическом смысле это может быть классификация с условным распределением по конечному множеству действий. Но вход остаётся текстовым и зависит от текущего состояния диалога. Такой же подход можно проверить для отбора документов: модель оценивает, полезен ли фрагмент для текущего вопроса. Готовые модели этого класса уже существуют. Мы изучаем их применение в агенте и сравниваем с обычными методами классификации или ранжирования. Предположение о меньших затратах ещё надо проверить. Ограниченный формат ответа не гарантирует правильного выбора, а вероятности требуют отдельной проверки на нашей задаче. При этом диалог с пользователем по-прежнему может вести исходная языковая модель.</a:t>
            </a:r>
          </a:p>
          <a:p xmlns:a="http://schemas.openxmlformats.org/drawingml/2006/main">
            <a:r>
              <a:t/>
            </a:r>
          </a:p>
          <a:p xmlns:a="http://schemas.openxmlformats.org/drawingml/2006/main">
            <a:r>
              <a:t>docs/research.md#термины-и-кандидаты-моделей</a:t>
            </a:r>
          </a:p>
          <a:p xmlns:a="http://schemas.openxmlformats.org/drawingml/2006/main">
            <a:r>
              <a:t>https://docs.typesafe.ai/concepts/system-one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4:35.</a:t>
            </a:r>
          </a:p>
          <a:p xmlns:a="http://schemas.openxmlformats.org/drawingml/2006/main">
            <a:r>
              <a:t/>
            </a:r>
          </a:p>
          <a:p xmlns:a="http://schemas.openxmlformats.org/drawingml/2006/main">
            <a:r>
              <a:t>Мы не будем сразу заменять все решения агента. Сначала получим исходный вариант и посмотрим, где он ошибается и на что расходует время и вызовы моделей. Это поможет выбрать один узел, который имеет смысл исследовать. Два возможных направления — выбор следующего действия и отбор документов для ответа. Второе связано с подходом RAG: перед ответом система находит документы и передаёт модели нужные фрагменты. Сам термин не меняет сути задачи — выбрать полезные сведения из найденных. После выбора узла сохраняем прежними среду, задания, инструменты и модель, которая ведёт диалог. Меняем только способ решения в этом месте. Если исследуем отбор документов, сохраняем одинаковый исходный набор найденных фрагментов и одинаковое ограничение на объём контекста. Сначала можно оценить качество отдельного выбора, чтобы отсеять неподходящие варианты. Но основной вывод делаем по полным обращениям. Более точный выбор документа не обязательно улучшит итоговый ответ, а экономия одного вызова может исчезнуть из-за дополнительных шагов. Такая замена одного узла позволяет связать наблюдаемую разницу с конкретным методом.</a:t>
            </a:r>
          </a:p>
          <a:p xmlns:a="http://schemas.openxmlformats.org/drawingml/2006/main">
            <a:r>
              <a:t/>
            </a:r>
          </a:p>
          <a:p xmlns:a="http://schemas.openxmlformats.org/drawingml/2006/main">
            <a:r>
              <a:t>Источники:</a:t>
            </a:r>
          </a:p>
          <a:p xmlns:a="http://schemas.openxmlformats.org/drawingml/2006/main">
            <a:r>
              <a:t>docs/research.md#основа-протокола-оценки</a:t>
            </a:r>
          </a:p>
          <a:p xmlns:a="http://schemas.openxmlformats.org/drawingml/2006/main">
            <a:r>
              <a:t>docs/tau-bench-review.md#рекомендация-и-следующий-этап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1:50. Начало: 5:40.</a:t>
            </a:r>
          </a:p>
          <a:p xmlns:a="http://schemas.openxmlformats.org/drawingml/2006/main">
            <a:r>
              <a:t/>
            </a:r>
          </a:p>
          <a:p xmlns:a="http://schemas.openxmlformats.org/drawingml/2006/main">
            <a:r>
              <a:t>Теперь сформулируем вопрос математически. Через X обозначим случайное сервисное обращение из заранее зафиксированного распределения, а через π — правило выбора метода для отдельного решения внутри агента. Например, правило может разрешать типизированной модели отвечать на достаточно надёжные случаи и передавать остальные исходной языковой модели. После полного выполнения обращения наблюдаем полную стоимость агента C_agent и потерю качества L. Ожидание берём по распределению обращений и случайности выполнения. Предлагаем искать правило с минимальной средней стоимостью при ограничении на ухудшение среднего качества относительно исходного правила π₀. Неотрицательный ε задаёт допустимую величину этого ухудшения. Ограничение записано как средняя потеря не выше потери исходного правила плюс ε; это эквивалентно ограничению на разность средних потерь. Для каждого правила ожидание включает случайность всей порождённой им траектории. Здесь пока нет выбранного численного ε: его надо согласовать по смыслу задачи до окончательного сравнения. Если тест оценивает обращение как успешное или неуспешное, возможный вариант потери — ноль при успехе и единица при неуспехе. Для разных последствий ошибок можно обсудить более содержательную функцию. Важно, что правило влияет на последующие шаги, поэтому C и L относятся к целому обращению, а не только к ответу одного классификатора. Математическая работа включает задание множества правил, настройку порога и статистическое сравнение. Ограничение оцениваем с учётом неопределённости, а задержку показываем отдельно. Это предложенный каркас постановки, который нужно уточнить под выбранный узел. Целевая стоимость C_agent относится ко всей попытке агента. Simulator, evaluator и setup публикуем отдельно.</a:t>
            </a:r>
          </a:p>
          <a:p xmlns:a="http://schemas.openxmlformats.org/drawingml/2006/main">
            <a:r>
              <a:t/>
            </a:r>
          </a:p>
          <a:p xmlns:a="http://schemas.openxmlformats.org/drawingml/2006/main">
            <a:r>
              <a:t>docs/research.md#математическое-содержание--предложение</a:t>
            </a:r>
          </a:p>
          <a:p xmlns:a="http://schemas.openxmlformats.org/drawingml/2006/main">
            <a:r>
              <a:t>docs/research.md#метрики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1:20. Начало: 7:30.</a:t>
            </a:r>
          </a:p>
          <a:p xmlns:a="http://schemas.openxmlformats.org/drawingml/2006/main">
            <a:r>
              <a:t/>
            </a:r>
          </a:p>
          <a:p xmlns:a="http://schemas.openxmlformats.org/drawingml/2006/main">
            <a:r>
              <a:t>Один понятный вариант правила π — порог по уверенности. Типизированная модель рассматривает допустимые действия и выдаёт вероятности. Если оценка выбранного действия проходит порог, управляющая программа использует это решение. Если не проходит, программа задаёт тот же вопрос исходной языковой модели. Это дополнительный вызов, и его стоимость включаем в результат. Здесь передача означает передачу вычисления другой модели. Её не надо смешивать с одним из возможных действий самого агента, например передачей обращения оператору. Мы исследуем, как выбор порога меняет качество и затраты. Низкий порог позволяет использовать компактную модель чаще, но может увеличить число ошибок. Высокий порог сокращает её участие, поэтому возможная экономия уменьшается. Однако это поведение не гарантировано: сначала надо проверить, что оценка уверенности помогает отличать надёжные решения от ненадёжных. Для этого нужна калибровка. Если модель даёт группе ответов вероятность около восьмидесяти процентов, смотрим, близка ли частота правильных ответов в этой группе к восьмидесяти процентам. Это объяснение смысла калибровки, а не наш измеренный результат. Затем подбираем порог на данных для настройки и проверяем уже зафиксированное правило на других обращениях. Уверенность сама по себе не служит гарантией. Поле confidence конкретного API нельзя автоматически трактовать как вероятность правильного ответа. У KEV это преобразование вероятности выбранного варианта относительно равномерного распределения. Поэтому проверяем семантику поля, калибровку и связь оценки с ошибками на независимых данных настройки. Ошибки и некорректный выход также могут запускать резервный метод; все дополнительные вызовы входят в стоимость. Сведения о моделях сверены с карточками 10.10.2026.</a:t>
            </a:r>
          </a:p>
          <a:p xmlns:a="http://schemas.openxmlformats.org/drawingml/2006/main">
            <a:r>
              <a:t/>
            </a:r>
          </a:p>
          <a:p xmlns:a="http://schemas.openxmlformats.org/drawingml/2006/main">
            <a:r>
              <a:t>docs/research.md#математическое-содержание--предложение</a:t>
            </a:r>
          </a:p>
          <a:p xmlns:a="http://schemas.openxmlformats.org/drawingml/2006/main">
            <a:r>
              <a:t>docs/research.md#метрики</a:t>
            </a:r>
          </a:p>
          <a:p xmlns:a="http://schemas.openxmlformats.org/drawingml/2006/main">
            <a:r>
              <a:t>https://docs.typesafe.ai/concepts/system-one</a:t>
            </a:r>
          </a:p>
          <a:p xmlns:a="http://schemas.openxmlformats.org/drawingml/2006/main">
            <a:r>
              <a:t>docs/research.md#kev-размеры-ограничения-и-адаптация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8:50.</a:t>
            </a:r>
          </a:p>
          <a:p xmlns:a="http://schemas.openxmlformats.org/drawingml/2006/main">
            <a:r>
              <a:t/>
            </a:r>
          </a:p>
          <a:p xmlns:a="http://schemas.openxmlformats.org/drawingml/2006/main">
            <a:r>
              <a:t>Предлагаем использовать banking_knowledge из семейства τ-bench как основной кандидат. Это синтетические банковские задачи с диалогом, базой знаний и операциями через инструменты; реальных клиентских счетов здесь нет. τ-knowledge — название расширения бенчмарка для работы с неструктурированными знаниями. По завершении проверка зависит от reward_basis конкретной задачи: это может быть состояние БД, предусмотренные действия и оценка текстовых условий. В изученном снимке есть обязательный NL_ASSERTION с LLM-оценщиком, поэтому весь набор нельзя называть исключительно детерминированной проверкой бизнес-состояния. До закрепления домена проверяем точную версию данных и кода, открытый симулятор и совместимого оценщика, информативность исходного агента и полный бюджет пилота. Обязательную проверку не выключаем ради удобства. Если открытый оценщик не воспроизводит нужную проверку, условия серии нужно определить заново до теста. Retail рассматриваем для отладки и возможной проверки переноса. HotpotQA — отдельный вспомогательный опыт отбора контекста, его результаты не подменяют успех сервисного агента. Рабочая интеграция и собственные измерения пока отсутствуют. Статья τ-knowledge v1 и проектная документация проверены 10.10.2026.</a:t>
            </a:r>
          </a:p>
          <a:p xmlns:a="http://schemas.openxmlformats.org/drawingml/2006/main">
            <a:r>
              <a:t/>
            </a:r>
          </a:p>
          <a:p xmlns:a="http://schemas.openxmlformats.org/drawingml/2006/main">
            <a:r>
              <a:t>docs/tau-bench-review.md</a:t>
            </a:r>
          </a:p>
          <a:p xmlns:a="http://schemas.openxmlformats.org/drawingml/2006/main">
            <a:r>
              <a:t>https://arxiv.org/abs/2603.04370v1</a:t>
            </a:r>
          </a:p>
          <a:p xmlns:a="http://schemas.openxmlformats.org/drawingml/2006/main">
            <a:r>
              <a:t>docs/architecture.md#7-протокол-сравнения-и-статистика</a:t>
            </a:r>
          </a:p>
          <a:p xmlns:a="http://schemas.openxmlformats.org/drawingml/2006/main">
            <a:r>
              <a:t>docs/hotpotqa-protocol.md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1:15. Начало: 9:55.</a:t>
            </a:r>
          </a:p>
          <a:p xmlns:a="http://schemas.openxmlformats.org/drawingml/2006/main">
            <a:r>
              <a:t/>
            </a:r>
          </a:p>
          <a:p xmlns:a="http://schemas.openxmlformats.org/drawingml/2006/main">
            <a:r>
              <a:t>Сравниваем исходного агента, содержательные дешёвые методы и открытые модели типизированных решений. Для выбора действия дешёвый контроль — правило или классификатор; для документов — специализированная модель ранжирования. KEV-0.8B и 4B — кандидаты для узких решений в τ-knowledge, а не готовая замена всему агенту. Авторы KEV-0.8B прямо исключают tool-call routing из рекомендуемых применений текущего checkpoint; его пригодность после адаптации остаётся гипотезой. Более крупная 4B также требует проверки. Laya English предложена для короткой пары вопрос–предложение во вспомогательном HotpotQA. Её полный вход по умолчанию ограничен 512 токенами, разделёнными между состоянием, вопросом и вариантами ответа. Другие варианты Laya имеют отдельные ограничения. При выборе инструмента нужны два контроля: исходная LLM с совместным выбором имени и аргументов и факторизованный вариант, где LLM сначала выбирает имя, а затем та же модель заполняет аргументы. Второй выделяет эффект замены селектора; дополнительные вызовы могут поглотить экономию. Калибровку и обучение оцениваем как отдельные условия. Преимущество ни одной модели на наших задачах пока не установлено. Карточки KEV-0.8B и Laya сверены 10.10.2026; это сведения поставщиков, а не наши измерения.</a:t>
            </a:r>
          </a:p>
          <a:p xmlns:a="http://schemas.openxmlformats.org/drawingml/2006/main">
            <a:r>
              <a:t/>
            </a:r>
          </a:p>
          <a:p xmlns:a="http://schemas.openxmlformats.org/drawingml/2006/main">
            <a:r>
              <a:t>docs/model-research.md</a:t>
            </a:r>
          </a:p>
          <a:p xmlns:a="http://schemas.openxmlformats.org/drawingml/2006/main">
            <a:r>
              <a:t>docs/research.md#термины-и-кандидаты-моделей</a:t>
            </a:r>
          </a:p>
          <a:p xmlns:a="http://schemas.openxmlformats.org/drawingml/2006/main">
            <a:r>
              <a:t>docs/research.md#основа-протокола-оценки</a:t>
            </a:r>
          </a:p>
          <a:p xmlns:a="http://schemas.openxmlformats.org/drawingml/2006/main">
            <a:r>
              <a:t>https://huggingface.co/jaredpalmer/kev-0.8b</a:t>
            </a:r>
          </a:p>
          <a:p xmlns:a="http://schemas.openxmlformats.org/drawingml/2006/main">
            <a:r>
              <a:t>https://huggingface.co/convaiinnovations/laya</a:t>
            </a:r>
          </a:p>
          <a:p xmlns:a="http://schemas.openxmlformats.org/drawingml/2006/main">
            <a:r>
              <a:t>docs/architecture.md#5-программа-экспериментов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11:10.</a:t>
            </a:r>
          </a:p>
          <a:p xmlns:a="http://schemas.openxmlformats.org/drawingml/2006/main">
            <a:r>
              <a:t/>
            </a:r>
          </a:p>
          <a:p xmlns:a="http://schemas.openxmlformats.org/drawingml/2006/main">
            <a:r>
              <a:t>Этот слайд сводит показатели, которые отвечают на наш исследовательский вопрос. Для агента проверяем успешное завершение обращения и разбираем типы ошибок. Для выбранного узла смотрим качество классификации или отбора документов, вероятности и долю случаев, когда понадобилась исходная языковая модель. Но локальные показатели не подменяют успех обращения. В стоимость включаем все вызовы, включая ошибки, повторные попытки и fallback. Последнее слово означает переход к другой модели при неуверенности или сбое. Разметка, обучение и настройка также требуют затрат, но их отделяем от затрат исполнения. Для сравнения показываем стоимость обращения и стоимость одного успеха. На формуле N — все назначенные выполнения серии, i — индекс выполнения, C_agent,i — полные затраты агента в этом выполнении, S — число успешных выполнений. Стоимость одного успеха равна сумме затрат всех N выполнений, включая неудачные, делённой на S. Повторы одного обращения считаются отдельными выполнениями. Показатель определён только при S &gt; 0. Это не средняя стоимость только успешных запусков. Расходы симулятора, оценщика и подготовки показываем отдельно; полный расход запуска также фиксируем. Он учитывает и деньги, потраченные на неудачные попытки. При отсутствии успехов такой показатель не определён: нужно показать ноль успешных задач и все затраты. Для задержки используем медиану p50 и девяносто пятый процентиль p95, чтобы видеть обычное время и более медленные случаи. Отдельно измеряем агента с инструментами и всю симуляцию, потому что пользователь в тестах также требует вычислений. В результате сравниваем качество, полную стоимость и задержку, а не одно удобное число.</a:t>
            </a:r>
          </a:p>
          <a:p xmlns:a="http://schemas.openxmlformats.org/drawingml/2006/main">
            <a:r>
              <a:t/>
            </a:r>
          </a:p>
          <a:p xmlns:a="http://schemas.openxmlformats.org/drawingml/2006/main">
            <a:r>
              <a:t>docs/research.md#метрики</a:t>
            </a:r>
          </a:p>
          <a:p xmlns:a="http://schemas.openxmlformats.org/drawingml/2006/main">
            <a:r>
              <a:t>docs/tau-bench-review.md#практические-ограничения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1:10. Начало: 12:35.</a:t>
            </a:r>
          </a:p>
          <a:p xmlns:a="http://schemas.openxmlformats.org/drawingml/2006/main">
            <a:r>
              <a:t/>
            </a:r>
          </a:p>
          <a:p xmlns:a="http://schemas.openxmlformats.org/drawingml/2006/main">
            <a:r>
              <a:t>План разбит на четыре этапа с понятными результатами. На первом проверяем пригодность среды, симулятора, оценщика и бюджета, затем собираем исходного агента на готовой языковой модели и подключаем его к тестовой среде. Результатом должен быть полный воспроизводимый диалог и измерения успеха, затрат и времени. На втором разбираем полученные обращения. Нам надо увидеть, какие решения повторяются, где возникают ошибки и какие вызовы заметно влияют на расходы. По этому анализу выбираем один узел и определяем его вход, допустимые ответы и критерий качества. На третьем реализуем альтернативные способы решения и проверяем их на тех же задачах. Здесь фиксируем правило передачи в языковую модель и оцениваем последствия для всего обращения. Если исходный вариант типизированной модели не подходит, отдельно решаем, есть ли основание для её настройки или обучения. На четвёртом формулируем вывод об условиях применимости. Для ВКР это связывает формальную постановку, реализованную систему, эксперимент и анализ. Если преимущество не обнаружено, нужно объяснить результат на основе сравнения, а не скрывать его. Сейчас у нас завершён подготовительный обзор. Ближайший предметный результат — исходный агент, после которого можно выбирать узел по наблюдаемым данным. Более сложные расширения не мешают получить этот первый законченный результат.</a:t>
            </a:r>
          </a:p>
          <a:p xmlns:a="http://schemas.openxmlformats.org/drawingml/2006/main">
            <a:r>
              <a:t/>
            </a:r>
          </a:p>
          <a:p xmlns:a="http://schemas.openxmlformats.org/drawingml/2006/main">
            <a:r>
              <a:t>docs/README.md#ближайшие-задачи</a:t>
            </a:r>
          </a:p>
          <a:p xmlns:a="http://schemas.openxmlformats.org/drawingml/2006/main">
            <a:r>
              <a:t>docs/research-overview.md</a:t>
            </a:r>
          </a:p>
          <a:p xmlns:a="http://schemas.openxmlformats.org/drawingml/2006/main">
            <a:r>
              <a:t>docs/research.md#основа-протокола-оценки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13:45.</a:t>
            </a:r>
          </a:p>
          <a:p xmlns:a="http://schemas.openxmlformats.org/drawingml/2006/main">
            <a:r>
              <a:t/>
            </a:r>
          </a:p>
          <a:p xmlns:a="http://schemas.openxmlformats.org/drawingml/2006/main">
            <a:r>
              <a:t>Предлагаем три самостоятельных вопроса на общей платформе. Первое направление — маршрутизация инструментов и поиска: дешёвый выбор наблюдаемого действия против факторизованного LLM-селектора при допустимой потере сквозного качества; исходный совместный вызов имени и аргументов — дополнительный системный контроль. Модели, генератор аргументов, поиск и контекст фиксируются; калибровка и пороги — часть правила применения, а не вся тема. Второе направление — отбор RAG-контекста против исходного порядка и специализированной модели ранжирования при общем кандидатном пуле и бюджете. Оценка ранжирования отдельно от сквозного эффекта. Третье — адаптация одного узла против замороженной модели и дешёвой головы или калибровки при равном наборе меток. Узел, прикладная политика и fallback фиксированы. Объём разметки изучается кривыми обучения. Перенос оцениваем лишь при наличии независимого второго домена и совместимых меток. Темы и назначения не утверждены; результатов пока нет. Каждый должен получить отдельную гипотезу, протокол и анализ, общей инфраструктуры для независимости ВКР недостаточно.</a:t>
            </a:r>
          </a:p>
          <a:p xmlns:a="http://schemas.openxmlformats.org/drawingml/2006/main">
            <a:r>
              <a:t/>
            </a:r>
          </a:p>
          <a:p xmlns:a="http://schemas.openxmlformats.org/drawingml/2006/main">
            <a:r>
              <a:t>docs/research.md</a:t>
            </a:r>
          </a:p>
          <a:p xmlns:a="http://schemas.openxmlformats.org/drawingml/2006/main">
            <a:r>
              <a:t>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1:40. Начало: 15:15.</a:t>
            </a:r>
          </a:p>
          <a:p xmlns:a="http://schemas.openxmlformats.org/drawingml/2006/main">
            <a:r>
              <a:t/>
            </a:r>
          </a:p>
          <a:p xmlns:a="http://schemas.openxmlformats.org/drawingml/2006/main">
            <a:r>
              <a:t>Общая инфраструктура обеспечивает воспроизводимость, но не заменяет личный результат. Направления обозначены номерами, это не утверждённые назначения авторам. Для маршрутизации фиксируем модели селектора и генератора аргументов, retrieval и контекст; первый автор не обязан ждать обучения модели в третьем направлении. Для отбора контекста методы получают одинаковые запросы, исходные кандидаты, генератор и бюджет в каждом сравниваемом условии. Кривую по бюджетам строим отдельной серией. Для адаптации фиксируем один узел, правило применения и fallback; сравниваем замороженную модель, дешёвую голову или калибровку и адаптацию при том же доступном наборе меток. Делим данные по исходным задачам и семействам до извлечения шагов: шаги одного диалога и его повторы не попадают одновременно в настройку и итоговый тест. Пороги и гиперпараметры подбираем вне теста. Для локальных метрик нужны обоснованные метки решений, для контекста — эталоны доказательств, для переноса — независимые совместимые данные. Эти условия ещё проверяются пилотом. Каждый автор сохраняет собственную постановку, метод, эксперимент и вывод, общие компоненты указываются явно. Достаточность тем согласуется с руководителем.</a:t>
            </a:r>
          </a:p>
          <a:p xmlns:a="http://schemas.openxmlformats.org/drawingml/2006/main">
            <a:r>
              <a:t/>
            </a:r>
          </a:p>
          <a:p xmlns:a="http://schemas.openxmlformats.org/drawingml/2006/main">
            <a:r>
              <a:t>docs/team.md</a:t>
            </a:r>
          </a:p>
          <a:p xmlns:a="http://schemas.openxmlformats.org/drawingml/2006/main">
            <a:r>
              <a:t>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1:05. Начало: 16:55.</a:t>
            </a:r>
          </a:p>
          <a:p xmlns:a="http://schemas.openxmlformats.org/drawingml/2006/main">
            <a:r>
              <a:t/>
            </a:r>
          </a:p>
          <a:p xmlns:a="http://schemas.openxmlformats.org/drawingml/2006/main">
            <a:r>
              <a:t>Предлагаем согласовать три самостоятельные темы, их первичные сравнения и границы личного вклада. Это предложение; имена и окончательные темы ещё не назначены. Отдельно согласуем допустимое ухудшение качества, данные и бюджет пилота.</a:t>
            </a:r>
          </a:p>
          <a:p xmlns:a="http://schemas.openxmlformats.org/drawingml/2006/main">
            <a:r>
              <a:t/>
            </a:r>
          </a:p>
          <a:p xmlns:a="http://schemas.openxmlformats.org/drawingml/2006/main">
            <a:r>
              <a:t>Источники:</a:t>
            </a:r>
          </a:p>
          <a:p xmlns:a="http://schemas.openxmlformats.org/drawingml/2006/main">
            <a:r>
              <a:t>docs/research.md</a:t>
            </a:r>
          </a:p>
          <a:p xmlns:a="http://schemas.openxmlformats.org/drawingml/2006/main">
            <a:r>
              <a:t>docs/README.md#ближайшие-задачи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Резервная сводка трёх предложенных вопросов, согласованная с основной таблицей. Выбор действия означает маршрутизацию инструментов и поиска, а порог передачи в LLM — часть фиксируемого правила применения. Для контекста сравниваем методы при общем кандидатном пуле и одинаковом бюджете. Для адаптации фиксируем узел и политику, сравниваем обучение с замороженной моделью и дешёвой головой или калибровкой на том же наборе меток. Пригодность стенда, наличие меток и достаточность тем проверяются до основной серии; ни одна тема ещё не утверждена и не назначена автору. Для переноса нужны независимые данные второго домена и совместимые метки. GraphRAG — возможное дальнейшее расширение.</a:t>
            </a:r>
          </a:p>
          <a:p xmlns:a="http://schemas.openxmlformats.org/drawingml/2006/main">
            <a:r>
              <a:t/>
            </a:r>
          </a:p>
          <a:p xmlns:a="http://schemas.openxmlformats.org/drawingml/2006/main">
            <a:r>
              <a:t>docs/team.md</a:t>
            </a:r>
          </a:p>
          <a:p xmlns:a="http://schemas.openxmlformats.org/drawingml/2006/main">
            <a:r>
              <a:t>docs/research.md#кандидаты-на-три-самостоятельных-исследования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Ссылки на этом слайде активны. τ-bench задаёт основу сервисной среды. τ-knowledge расширяет её задачами, где агенту нужны документы и операции. Документация TypeSafe описывает интерфейс типизированных решений. Препринт Liu показывает существующее направление исследования вероятностей и автоматизации в задачах безопасности. Здесь используются конкретные версии из реестра проекта. Они не являются нашими измерениями. Кандидаты KEV и Laya, версии кода и ограничения входа описаны в docs/model-research.md и docs/research.md. Иллюстрация обложки создана ImageGen 02.10.2026 и служит оформлением, а не научной схемой. Библиографические сведения и активные страницы всех четырёх источников сверены 10.10.2026. Для препринта Liu сохранена указанная в реестре версия v1; более новая версия существует, но её результаты здесь не используются. Работа о безопасности не подтверждает преимущества моделей в банковском агенте.</a:t>
            </a:r>
          </a:p>
          <a:p xmlns:a="http://schemas.openxmlformats.org/drawingml/2006/main">
            <a:r>
              <a:t/>
            </a:r>
          </a:p>
          <a:p xmlns:a="http://schemas.openxmlformats.org/drawingml/2006/main">
            <a:r>
              <a:t>docs/sources.md</a:t>
            </a:r>
          </a:p>
          <a:p xmlns:a="http://schemas.openxmlformats.org/drawingml/2006/main">
            <a:r>
              <a:t>docs/model-research.md</a:t>
            </a:r>
          </a:p>
          <a:p xmlns:a="http://schemas.openxmlformats.org/drawingml/2006/main">
            <a:r>
              <a:t>docs/research.md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707fcb4f149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22dc8798e742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82763f5b284d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80d6ba788046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8ed7702a4947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efae7227a644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7182B9-13A5-4419-841B-DA0F0AD29D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009479-283B-4439-ACA4-DCE4104396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790C6A-BD69-49A9-8BD6-9BF7004525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06E33-4A47-4725-87DE-7D74251DB6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308CFF-3935-4048-8D9B-5B9F132DFF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9421B1-48B3-4675-8273-3D3DBC78CA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50A9D5-F511-4BA0-8816-4C1227B209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861C97-9B41-4E87-8BAF-74E2CE41FD8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5F3F4D-06A2-4C94-9628-8544C0246C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8B88D-84ED-425E-8BD9-B06121B39C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cf6d088d3a40bd" /><Relationship Type="http://schemas.openxmlformats.org/officeDocument/2006/relationships/slideLayout" Target="/ppt/slideLayouts/slideLayout1.xml" Id="R8172c12ef01d4ee5" /><Relationship Type="http://schemas.openxmlformats.org/officeDocument/2006/relationships/slideLayout" Target="/ppt/slideLayouts/slideLayout2.xml" Id="R54d5c04d8d16476c" /><Relationship Type="http://schemas.openxmlformats.org/officeDocument/2006/relationships/slideLayout" Target="/ppt/slideLayouts/slideLayout3.xml" Id="R540e500ab3cd4129" /><Relationship Type="http://schemas.openxmlformats.org/officeDocument/2006/relationships/slideLayout" Target="/ppt/slideLayouts/slideLayout4.xml" Id="R189134c6c88447f9" /><Relationship Type="http://schemas.openxmlformats.org/officeDocument/2006/relationships/slideLayout" Target="/ppt/slideLayouts/slideLayout5.xml" Id="R0d05d49abbd0441a" /><Relationship Type="http://schemas.openxmlformats.org/officeDocument/2006/relationships/slideLayout" Target="/ppt/slideLayouts/slideLayout6.xml" Id="R5d239bfd3dc043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2c12ef01d4ee5"/>
    <p:sldLayoutId xmlns:r="http://schemas.openxmlformats.org/officeDocument/2006/relationships" id="2147483650" r:id="R54d5c04d8d16476c"/>
    <p:sldLayoutId xmlns:r="http://schemas.openxmlformats.org/officeDocument/2006/relationships" id="2147483651" r:id="R540e500ab3cd4129"/>
    <p:sldLayoutId xmlns:r="http://schemas.openxmlformats.org/officeDocument/2006/relationships" id="2147483652" r:id="R189134c6c88447f9"/>
    <p:sldLayoutId xmlns:r="http://schemas.openxmlformats.org/officeDocument/2006/relationships" id="2147483653" r:id="R0d05d49abbd0441a"/>
    <p:sldLayoutId xmlns:r="http://schemas.openxmlformats.org/officeDocument/2006/relationships" id="2147483654" r:id="R5d239bfd3dc043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182B3B"/>
      </a:hlink>
      <a:folHlink>
        <a:srgbClr val="182B3B"/>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03cfd16427425c" /><Relationship Type="http://schemas.openxmlformats.org/officeDocument/2006/relationships/image" Target="/ppt/media/image.png" Id="R5d5222e554424376" /><Relationship Type="http://schemas.openxmlformats.org/officeDocument/2006/relationships/notesSlide" Target="/ppt/notesSlides/notesSlide1.xml" Id="R8f63a20e5b6646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2aa42443084b7a" /><Relationship Type="http://schemas.openxmlformats.org/officeDocument/2006/relationships/notesSlide" Target="/ppt/notesSlides/notesSlide2.xml" Id="Rf2d91d9a56ca40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1dc43be9b646b8" /><Relationship Type="http://schemas.openxmlformats.org/officeDocument/2006/relationships/notesSlide" Target="/ppt/notesSlides/notesSlide3.xml" Id="R5f61e95d3c5448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ff35617714456a" /><Relationship Type="http://schemas.openxmlformats.org/officeDocument/2006/relationships/notesSlide" Target="/ppt/notesSlides/notesSlide4.xml" Id="Rda3565a6f0294f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ec1a830b8a48af" /><Relationship Type="http://schemas.openxmlformats.org/officeDocument/2006/relationships/notesSlide" Target="/ppt/notesSlides/notesSlide5.xml" Id="R4b61ae04e01947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380127f8f04f92" /><Relationship Type="http://schemas.openxmlformats.org/officeDocument/2006/relationships/notesSlide" Target="/ppt/notesSlides/notesSlide6.xml" Id="R4c0c5aeb9c6a47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f969f8435f403e" /><Relationship Type="http://schemas.openxmlformats.org/officeDocument/2006/relationships/notesSlide" Target="/ppt/notesSlides/notesSlide7.xml" Id="Ra65943ff4fb74c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b92c09e28340e9" /><Relationship Type="http://schemas.openxmlformats.org/officeDocument/2006/relationships/notesSlide" Target="/ppt/notesSlides/notesSlide8.xml" Id="R1e32bac51d564b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dd3dc604ca4c24" /><Relationship Type="http://schemas.openxmlformats.org/officeDocument/2006/relationships/notesSlide" Target="/ppt/notesSlides/notesSlide9.xml" Id="R7aa004cae5fa40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5d3d9ad24f4f46" /><Relationship Type="http://schemas.openxmlformats.org/officeDocument/2006/relationships/notesSlide" Target="/ppt/notesSlides/notesSlide10.xml" Id="Rd9b998669327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019803547e4753" /><Relationship Type="http://schemas.openxmlformats.org/officeDocument/2006/relationships/notesSlide" Target="/ppt/notesSlides/notesSlide11.xml" Id="R52262ca633cc4a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6d99088f3f04c78" /><Relationship Type="http://schemas.openxmlformats.org/officeDocument/2006/relationships/notesSlide" Target="/ppt/notesSlides/notesSlide12.xml" Id="R5034552b67fc40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273c87970c494d" /><Relationship Type="http://schemas.openxmlformats.org/officeDocument/2006/relationships/notesSlide" Target="/ppt/notesSlides/notesSlide13.xml" Id="R66870f05c86d4c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4791cdd5b243cf" /><Relationship Type="http://schemas.openxmlformats.org/officeDocument/2006/relationships/notesSlide" Target="/ppt/notesSlides/notesSlide14.xml" Id="R0d83fa99559b42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f9692a5bc3401b" /><Relationship Type="http://schemas.openxmlformats.org/officeDocument/2006/relationships/notesSlide" Target="/ppt/notesSlides/notesSlide15.xml" Id="Rbc754b0d529143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3b57b775484d1f" /><Relationship Type="http://schemas.openxmlformats.org/officeDocument/2006/relationships/hyperlink" Target="https://proceedings.iclr.cc/paper_files/paper/2025/hash/1b126cc38b8638e07bef37e7b2bb72bf-Abstract-Conference.html" TargetMode="External" Id="Ra9dd6b2ab92a4004" /><Relationship Type="http://schemas.openxmlformats.org/officeDocument/2006/relationships/hyperlink" Target="https://arxiv.org/abs/2603.04370v1" TargetMode="External" Id="R34f14dc45c304d3e" /><Relationship Type="http://schemas.openxmlformats.org/officeDocument/2006/relationships/hyperlink" Target="https://docs.typesafe.ai/concepts/system-one" TargetMode="External" Id="Ree2b125f91674226" /><Relationship Type="http://schemas.openxmlformats.org/officeDocument/2006/relationships/hyperlink" Target="https://arxiv.org/abs/2609.33401v1" TargetMode="External" Id="R72fc4b19160a46d0" /><Relationship Type="http://schemas.openxmlformats.org/officeDocument/2006/relationships/notesSlide" Target="/ppt/notesSlides/notesSlide16.xml" Id="R1abab5983cc3470a"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E623182-67D7-4DA8-BD5A-CC7E0174E48A}"/>
              </a:ext>
            </a:extLst>
          </p:cNvPr>
          <p:cNvPicPr>
            <a:picLocks xmlns:a="http://schemas.openxmlformats.org/drawingml/2006/main" noChangeAspect="1"/>
          </p:cNvPicPr>
          <p:nvPr/>
        </p:nvPicPr>
        <p:blipFill>
          <a:blip xmlns:r="http://schemas.openxmlformats.org/officeDocument/2006/relationships" xmlns:a="http://schemas.openxmlformats.org/drawingml/2006/main" r:embed="R5d5222e5544243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3AEFAC-A716-472D-8AF8-372B3E8B71C3}"/>
              </a:ext>
            </a:extLst>
          </p:cNvPr>
          <p:cNvSpPr>
            <a:spLocks xmlns:a="http://schemas.openxmlformats.org/drawingml/2006/main" noGrp="1"/>
          </p:cNvSpPr>
          <p:nvPr/>
        </p:nvSpPr>
        <p:spPr>
          <a:xfrm xmlns:a="http://schemas.openxmlformats.org/drawingml/2006/main">
            <a:off x="685800" y="1333500"/>
            <a:ext cx="7334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00" b="1">
                <a:solidFill>
                  <a:srgbClr val="182B3B"/>
                </a:solidFill>
                <a:latin typeface="DejaVu Sans"/>
                <a:ea typeface="DejaVu Sans"/>
                <a:cs typeface="DejaVu Sans"/>
              </a:defRPr>
            </a:defPPr>
          </a:lstStyle>
          <a:p xmlns:a="http://schemas.openxmlformats.org/drawingml/2006/main">
            <a:pPr>
              <a:defRPr sz="4600" b="1">
                <a:solidFill>
                  <a:srgbClr val="182B3B"/>
                </a:solidFill>
                <a:latin typeface="DejaVu Sans"/>
                <a:ea typeface="DejaVu Sans"/>
                <a:cs typeface="DejaVu Sans"/>
              </a:defRPr>
            </a:pPr>
            <a:r>
              <a:rPr sz="4600" b="1">
                <a:solidFill>
                  <a:srgbClr val="182B3B"/>
                </a:solidFill>
                <a:latin typeface="DejaVu Sans"/>
                <a:ea typeface="DejaVu Sans"/>
                <a:cs typeface="DejaVu Sans"/>
              </a:rPr>
              <a:t>Типизированные решения</a:t>
            </a:r>
          </a:p>
          <a:p xmlns:a="http://schemas.openxmlformats.org/drawingml/2006/main">
            <a:pPr>
              <a:defRPr sz="4600" b="1">
                <a:solidFill>
                  <a:srgbClr val="182B3B"/>
                </a:solidFill>
                <a:latin typeface="DejaVu Sans"/>
                <a:ea typeface="DejaVu Sans"/>
                <a:cs typeface="DejaVu Sans"/>
              </a:defRPr>
            </a:pPr>
            <a:r>
              <a:rPr sz="4600" b="1">
                <a:solidFill>
                  <a:srgbClr val="182B3B"/>
                </a:solidFill>
                <a:latin typeface="DejaVu Sans"/>
                <a:ea typeface="DejaVu Sans"/>
                <a:cs typeface="DejaVu Sans"/>
              </a:rPr>
              <a:t>в языковом агенте</a:t>
            </a:r>
          </a:p>
        </p:txBody>
      </p:sp>
      <p:sp>
        <p:nvSpPr>
          <p:cNvPr id="3" name="">
            <a:extLst xmlns:a="http://schemas.openxmlformats.org/drawingml/2006/main">
              <a:ext uri="{FF2B5EF4-FFF2-40B4-BE49-F238E27FC236}">
                <a16:creationId xmlns:a16="http://schemas.microsoft.com/office/drawing/2014/main" id="{402A9C4B-F42F-4FE3-8AB0-6F34C69706AB}"/>
              </a:ext>
            </a:extLst>
          </p:cNvPr>
          <p:cNvSpPr>
            <a:spLocks xmlns:a="http://schemas.openxmlformats.org/drawingml/2006/main" noGrp="1"/>
          </p:cNvSpPr>
          <p:nvPr/>
        </p:nvSpPr>
        <p:spPr>
          <a:xfrm xmlns:a="http://schemas.openxmlformats.org/drawingml/2006/main">
            <a:off x="685800" y="39909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Исследование качества, стоимости и времени работы</a:t>
            </a:r>
          </a:p>
        </p:txBody>
      </p:sp>
      <p:sp>
        <p:nvSpPr>
          <p:cNvPr id="4" name="">
            <a:extLst xmlns:a="http://schemas.openxmlformats.org/drawingml/2006/main">
              <a:ext uri="{FF2B5EF4-FFF2-40B4-BE49-F238E27FC236}">
                <a16:creationId xmlns:a16="http://schemas.microsoft.com/office/drawing/2014/main" id="{E3D00556-A0CA-409D-B826-BEFBD99695DE}"/>
              </a:ext>
            </a:extLst>
          </p:cNvPr>
          <p:cNvSpPr>
            <a:spLocks xmlns:a="http://schemas.openxmlformats.org/drawingml/2006/main" noGrp="1"/>
          </p:cNvSpPr>
          <p:nvPr/>
        </p:nvSpPr>
        <p:spPr>
          <a:xfrm xmlns:a="http://schemas.openxmlformats.org/drawingml/2006/main">
            <a:off x="685800" y="4953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НГТУ, ФПМИ, ТПИ</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Бакалаврская ВКР, 2027</a:t>
            </a:r>
          </a:p>
        </p:txBody>
      </p:sp>
      <p:sp>
        <p:nvSpPr>
          <p:cNvPr id="5" name="">
            <a:extLst xmlns:a="http://schemas.openxmlformats.org/drawingml/2006/main">
              <a:ext uri="{FF2B5EF4-FFF2-40B4-BE49-F238E27FC236}">
                <a16:creationId xmlns:a16="http://schemas.microsoft.com/office/drawing/2014/main" id="{3EB3F7F7-44DA-499C-A18E-3D6FEA9916B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01</a:t>
            </a:r>
          </a:p>
        </p:txBody>
      </p:sp>
    </p:spTree>
    <p:extLst>
      <p:ext uri="{BB962C8B-B14F-4D97-AF65-F5344CB8AC3E}">
        <p14:creationId xmlns:p14="http://schemas.microsoft.com/office/powerpoint/2010/main" val="311349668"/>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B0E336-DBF2-4B3F-9D07-AEF23F98830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Какого агента мы предлагаем</a:t>
            </a:r>
          </a:p>
        </p:txBody>
      </p:sp>
      <p:sp>
        <p:nvSpPr>
          <p:cNvPr id="2" name="">
            <a:extLst xmlns:a="http://schemas.openxmlformats.org/drawingml/2006/main">
              <a:ext uri="{FF2B5EF4-FFF2-40B4-BE49-F238E27FC236}">
                <a16:creationId xmlns:a16="http://schemas.microsoft.com/office/drawing/2014/main" id="{606E64EB-479A-4AC1-801B-A5775F2108BE}"/>
              </a:ext>
            </a:extLst>
          </p:cNvPr>
          <p:cNvSpPr>
            <a:spLocks xmlns:a="http://schemas.openxmlformats.org/drawingml/2006/main" noGrp="1"/>
          </p:cNvSpPr>
          <p:nvPr/>
        </p:nvSpPr>
        <p:spPr>
          <a:xfrm xmlns:a="http://schemas.openxmlformats.org/drawingml/2006/main">
            <a:off x="685800" y="16573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Программа для сервисных обращений: ведёт диалог, находит правила и выполняет разрешённые операции</a:t>
            </a:r>
          </a:p>
        </p:txBody>
      </p:sp>
      <p:sp>
        <p:nvSpPr>
          <p:cNvPr id="3" name="">
            <a:extLst xmlns:a="http://schemas.openxmlformats.org/drawingml/2006/main">
              <a:ext uri="{FF2B5EF4-FFF2-40B4-BE49-F238E27FC236}">
                <a16:creationId xmlns:a16="http://schemas.microsoft.com/office/drawing/2014/main" id="{9FF23A0B-1BC1-482B-BA47-376470CB86B3}"/>
              </a:ext>
            </a:extLst>
          </p:cNvPr>
          <p:cNvSpPr>
            <a:spLocks xmlns:a="http://schemas.openxmlformats.org/drawingml/2006/main" noGrp="1"/>
          </p:cNvSpPr>
          <p:nvPr/>
        </p:nvSpPr>
        <p:spPr>
          <a:xfrm xmlns:a="http://schemas.openxmlformats.org/drawingml/2006/main">
            <a:off x="685800" y="27527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Языковая модель</a:t>
            </a:r>
          </a:p>
        </p:txBody>
      </p:sp>
      <p:sp>
        <p:nvSpPr>
          <p:cNvPr id="4" name="">
            <a:extLst xmlns:a="http://schemas.openxmlformats.org/drawingml/2006/main">
              <a:ext uri="{FF2B5EF4-FFF2-40B4-BE49-F238E27FC236}">
                <a16:creationId xmlns:a16="http://schemas.microsoft.com/office/drawing/2014/main" id="{15FCEA6A-253D-4720-881E-48243075E69E}"/>
              </a:ext>
            </a:extLst>
          </p:cNvPr>
          <p:cNvSpPr>
            <a:spLocks xmlns:a="http://schemas.openxmlformats.org/drawingml/2006/main" noGrp="1"/>
          </p:cNvSpPr>
          <p:nvPr/>
        </p:nvSpPr>
        <p:spPr>
          <a:xfrm xmlns:a="http://schemas.openxmlformats.org/drawingml/2006/main">
            <a:off x="3848100" y="27527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Понимает запрос, предлагает следующий шаг и формулирует ответ</a:t>
            </a:r>
          </a:p>
        </p:txBody>
      </p:sp>
      <p:sp>
        <p:nvSpPr>
          <p:cNvPr id="5" name="">
            <a:extLst xmlns:a="http://schemas.openxmlformats.org/drawingml/2006/main">
              <a:ext uri="{FF2B5EF4-FFF2-40B4-BE49-F238E27FC236}">
                <a16:creationId xmlns:a16="http://schemas.microsoft.com/office/drawing/2014/main" id="{BDCC13E7-23CF-4D6E-B0E5-8515DEF88447}"/>
              </a:ext>
            </a:extLst>
          </p:cNvPr>
          <p:cNvSpPr>
            <a:spLocks xmlns:a="http://schemas.openxmlformats.org/drawingml/2006/main" noGrp="1"/>
          </p:cNvSpPr>
          <p:nvPr/>
        </p:nvSpPr>
        <p:spPr>
          <a:xfrm xmlns:a="http://schemas.openxmlformats.org/drawingml/2006/main">
            <a:off x="685800" y="34385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Управляющая программа</a:t>
            </a:r>
          </a:p>
        </p:txBody>
      </p:sp>
      <p:sp>
        <p:nvSpPr>
          <p:cNvPr id="6" name="">
            <a:extLst xmlns:a="http://schemas.openxmlformats.org/drawingml/2006/main">
              <a:ext uri="{FF2B5EF4-FFF2-40B4-BE49-F238E27FC236}">
                <a16:creationId xmlns:a16="http://schemas.microsoft.com/office/drawing/2014/main" id="{2F48DE59-67C8-4893-8421-BC4352278DBA}"/>
              </a:ext>
            </a:extLst>
          </p:cNvPr>
          <p:cNvSpPr>
            <a:spLocks xmlns:a="http://schemas.openxmlformats.org/drawingml/2006/main" noGrp="1"/>
          </p:cNvSpPr>
          <p:nvPr/>
        </p:nvSpPr>
        <p:spPr>
          <a:xfrm xmlns:a="http://schemas.openxmlformats.org/drawingml/2006/main">
            <a:off x="3848100" y="34385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Передаёт модели историю, вызывает выбранный инструмент и возвращает результат</a:t>
            </a:r>
          </a:p>
        </p:txBody>
      </p:sp>
      <p:sp>
        <p:nvSpPr>
          <p:cNvPr id="7" name="">
            <a:extLst xmlns:a="http://schemas.openxmlformats.org/drawingml/2006/main">
              <a:ext uri="{FF2B5EF4-FFF2-40B4-BE49-F238E27FC236}">
                <a16:creationId xmlns:a16="http://schemas.microsoft.com/office/drawing/2014/main" id="{3B7A93E6-3F11-4CDB-BECC-4BB34240497C}"/>
              </a:ext>
            </a:extLst>
          </p:cNvPr>
          <p:cNvSpPr>
            <a:spLocks xmlns:a="http://schemas.openxmlformats.org/drawingml/2006/main" noGrp="1"/>
          </p:cNvSpPr>
          <p:nvPr/>
        </p:nvSpPr>
        <p:spPr>
          <a:xfrm xmlns:a="http://schemas.openxmlformats.org/drawingml/2006/main">
            <a:off x="685800" y="41243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База знаний</a:t>
            </a:r>
          </a:p>
        </p:txBody>
      </p:sp>
      <p:sp>
        <p:nvSpPr>
          <p:cNvPr id="8" name="">
            <a:extLst xmlns:a="http://schemas.openxmlformats.org/drawingml/2006/main">
              <a:ext uri="{FF2B5EF4-FFF2-40B4-BE49-F238E27FC236}">
                <a16:creationId xmlns:a16="http://schemas.microsoft.com/office/drawing/2014/main" id="{1E0184DA-58FB-4340-B18A-0570702BE96E}"/>
              </a:ext>
            </a:extLst>
          </p:cNvPr>
          <p:cNvSpPr>
            <a:spLocks xmlns:a="http://schemas.openxmlformats.org/drawingml/2006/main" noGrp="1"/>
          </p:cNvSpPr>
          <p:nvPr/>
        </p:nvSpPr>
        <p:spPr>
          <a:xfrm xmlns:a="http://schemas.openxmlformats.org/drawingml/2006/main">
            <a:off x="3848100" y="41243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Содержит документы: условия обслуживания, инструкции и ограничения</a:t>
            </a:r>
          </a:p>
        </p:txBody>
      </p:sp>
      <p:sp>
        <p:nvSpPr>
          <p:cNvPr id="9" name="">
            <a:extLst xmlns:a="http://schemas.openxmlformats.org/drawingml/2006/main">
              <a:ext uri="{FF2B5EF4-FFF2-40B4-BE49-F238E27FC236}">
                <a16:creationId xmlns:a16="http://schemas.microsoft.com/office/drawing/2014/main" id="{B95D043D-6CA5-4BAC-A679-7E885BF71174}"/>
              </a:ext>
            </a:extLst>
          </p:cNvPr>
          <p:cNvSpPr>
            <a:spLocks xmlns:a="http://schemas.openxmlformats.org/drawingml/2006/main" noGrp="1"/>
          </p:cNvSpPr>
          <p:nvPr/>
        </p:nvSpPr>
        <p:spPr>
          <a:xfrm xmlns:a="http://schemas.openxmlformats.org/drawingml/2006/main">
            <a:off x="685800" y="48101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Инструменты</a:t>
            </a:r>
          </a:p>
        </p:txBody>
      </p:sp>
      <p:sp>
        <p:nvSpPr>
          <p:cNvPr id="10" name="">
            <a:extLst xmlns:a="http://schemas.openxmlformats.org/drawingml/2006/main">
              <a:ext uri="{FF2B5EF4-FFF2-40B4-BE49-F238E27FC236}">
                <a16:creationId xmlns:a16="http://schemas.microsoft.com/office/drawing/2014/main" id="{640858AE-AA9C-4210-B693-E84862A3E99A}"/>
              </a:ext>
            </a:extLst>
          </p:cNvPr>
          <p:cNvSpPr>
            <a:spLocks xmlns:a="http://schemas.openxmlformats.org/drawingml/2006/main" noGrp="1"/>
          </p:cNvSpPr>
          <p:nvPr/>
        </p:nvSpPr>
        <p:spPr>
          <a:xfrm xmlns:a="http://schemas.openxmlformats.org/drawingml/2006/main">
            <a:off x="3848100" y="48101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Ищут документы, читают данные и выполняют операции в тестовой системе</a:t>
            </a:r>
          </a:p>
        </p:txBody>
      </p:sp>
      <p:sp>
        <p:nvSpPr>
          <p:cNvPr id="11" name="">
            <a:extLst xmlns:a="http://schemas.openxmlformats.org/drawingml/2006/main">
              <a:ext uri="{FF2B5EF4-FFF2-40B4-BE49-F238E27FC236}">
                <a16:creationId xmlns:a16="http://schemas.microsoft.com/office/drawing/2014/main" id="{69C334E2-F522-4F66-BD66-D0F4ADD3BA5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Исследуем решения внутри агента. Саму языковую модель с нуля не обучаем</a:t>
            </a:r>
          </a:p>
        </p:txBody>
      </p:sp>
      <p:sp>
        <p:nvSpPr>
          <p:cNvPr id="12" name="">
            <a:extLst xmlns:a="http://schemas.openxmlformats.org/drawingml/2006/main">
              <a:ext uri="{FF2B5EF4-FFF2-40B4-BE49-F238E27FC236}">
                <a16:creationId xmlns:a16="http://schemas.microsoft.com/office/drawing/2014/main" id="{5CA47641-7AE4-41CF-9CAA-60513494DEFE}"/>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02</a:t>
            </a:r>
          </a:p>
        </p:txBody>
      </p:sp>
    </p:spTree>
    <p:extLst>
      <p:ext uri="{BB962C8B-B14F-4D97-AF65-F5344CB8AC3E}">
        <p14:creationId xmlns:p14="http://schemas.microsoft.com/office/powerpoint/2010/main" val="92657843"/>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309BC738-97B4-426B-A0E1-07685D6557D8}"/>
              </a:ext>
            </a:extLst>
          </p:cNvPr>
          <p:cNvCxnSpPr>
            <a:stCxn xmlns:a="http://schemas.openxmlformats.org/drawingml/2006/main" id="14" idx="3"/>
            <a:endCxn xmlns:a="http://schemas.openxmlformats.org/drawingml/2006/main" id="15" idx="1"/>
          </p:cNvCxnSpPr>
          <p:nvPr/>
        </p:nvCxnSpPr>
        <p:spPr>
          <a:xfrm xmlns:a="http://schemas.openxmlformats.org/drawingml/2006/main">
            <a:off x="8639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17" name="">
            <a:extLst xmlns:a="http://schemas.openxmlformats.org/drawingml/2006/main">
              <a:ext uri="{FF2B5EF4-FFF2-40B4-BE49-F238E27FC236}">
                <a16:creationId xmlns:a16="http://schemas.microsoft.com/office/drawing/2014/main" id="{B57A751E-B02C-45C4-B068-21B8A3F67695}"/>
              </a:ext>
            </a:extLst>
          </p:cNvPr>
          <p:cNvCxnSpPr>
            <a:stCxn xmlns:a="http://schemas.openxmlformats.org/drawingml/2006/main" id="13" idx="3"/>
            <a:endCxn xmlns:a="http://schemas.openxmlformats.org/drawingml/2006/main" id="14" idx="1"/>
          </p:cNvCxnSpPr>
          <p:nvPr/>
        </p:nvCxnSpPr>
        <p:spPr>
          <a:xfrm xmlns:a="http://schemas.openxmlformats.org/drawingml/2006/main">
            <a:off x="57816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16" name="">
            <a:extLst xmlns:a="http://schemas.openxmlformats.org/drawingml/2006/main">
              <a:ext uri="{FF2B5EF4-FFF2-40B4-BE49-F238E27FC236}">
                <a16:creationId xmlns:a16="http://schemas.microsoft.com/office/drawing/2014/main" id="{7F610C4A-DA78-4A06-98AB-8D76DC7A75EE}"/>
              </a:ext>
            </a:extLst>
          </p:cNvPr>
          <p:cNvCxnSpPr>
            <a:stCxn xmlns:a="http://schemas.openxmlformats.org/drawingml/2006/main" id="12" idx="3"/>
            <a:endCxn xmlns:a="http://schemas.openxmlformats.org/drawingml/2006/main" id="13" idx="1"/>
          </p:cNvCxnSpPr>
          <p:nvPr/>
        </p:nvCxnSpPr>
        <p:spPr>
          <a:xfrm xmlns:a="http://schemas.openxmlformats.org/drawingml/2006/main">
            <a:off x="2924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9" name="">
            <a:extLst xmlns:a="http://schemas.openxmlformats.org/drawingml/2006/main">
              <a:ext uri="{FF2B5EF4-FFF2-40B4-BE49-F238E27FC236}">
                <a16:creationId xmlns:a16="http://schemas.microsoft.com/office/drawing/2014/main" id="{EDF9C436-5F7E-4D1A-9BA5-45D718D4C2C8}"/>
              </a:ext>
            </a:extLst>
          </p:cNvPr>
          <p:cNvCxnSpPr>
            <a:stCxn xmlns:a="http://schemas.openxmlformats.org/drawingml/2006/main" id="5" idx="3"/>
            <a:endCxn xmlns:a="http://schemas.openxmlformats.org/drawingml/2006/main" id="6" idx="1"/>
          </p:cNvCxnSpPr>
          <p:nvPr/>
        </p:nvCxnSpPr>
        <p:spPr>
          <a:xfrm xmlns:a="http://schemas.openxmlformats.org/drawingml/2006/main">
            <a:off x="8639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8" name="">
            <a:extLst xmlns:a="http://schemas.openxmlformats.org/drawingml/2006/main">
              <a:ext uri="{FF2B5EF4-FFF2-40B4-BE49-F238E27FC236}">
                <a16:creationId xmlns:a16="http://schemas.microsoft.com/office/drawing/2014/main" id="{6D004A4D-AB9F-457C-8783-F6B4DBE801C6}"/>
              </a:ext>
            </a:extLst>
          </p:cNvPr>
          <p:cNvCxnSpPr>
            <a:stCxn xmlns:a="http://schemas.openxmlformats.org/drawingml/2006/main" id="4" idx="3"/>
            <a:endCxn xmlns:a="http://schemas.openxmlformats.org/drawingml/2006/main" id="5" idx="1"/>
          </p:cNvCxnSpPr>
          <p:nvPr/>
        </p:nvCxnSpPr>
        <p:spPr>
          <a:xfrm xmlns:a="http://schemas.openxmlformats.org/drawingml/2006/main">
            <a:off x="57816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7" name="">
            <a:extLst xmlns:a="http://schemas.openxmlformats.org/drawingml/2006/main">
              <a:ext uri="{FF2B5EF4-FFF2-40B4-BE49-F238E27FC236}">
                <a16:creationId xmlns:a16="http://schemas.microsoft.com/office/drawing/2014/main" id="{2CDAAB93-108A-4C55-B59D-7EE38B03B56F}"/>
              </a:ext>
            </a:extLst>
          </p:cNvPr>
          <p:cNvCxnSpPr>
            <a:stCxn xmlns:a="http://schemas.openxmlformats.org/drawingml/2006/main" id="3" idx="3"/>
            <a:endCxn xmlns:a="http://schemas.openxmlformats.org/drawingml/2006/main" id="4" idx="1"/>
          </p:cNvCxnSpPr>
          <p:nvPr/>
        </p:nvCxnSpPr>
        <p:spPr>
          <a:xfrm xmlns:a="http://schemas.openxmlformats.org/drawingml/2006/main">
            <a:off x="2924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21" name="">
            <a:extLst xmlns:a="http://schemas.openxmlformats.org/drawingml/2006/main">
              <a:ext uri="{FF2B5EF4-FFF2-40B4-BE49-F238E27FC236}">
                <a16:creationId xmlns:a16="http://schemas.microsoft.com/office/drawing/2014/main" id="{4FEE2738-8D3A-4C0B-A792-F09D9AEBD33E}"/>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Цикл агента и проверка результата</a:t>
            </a:r>
          </a:p>
        </p:txBody>
      </p:sp>
      <p:sp>
        <p:nvSpPr>
          <p:cNvPr id="2" name="">
            <a:extLst xmlns:a="http://schemas.openxmlformats.org/drawingml/2006/main">
              <a:ext uri="{FF2B5EF4-FFF2-40B4-BE49-F238E27FC236}">
                <a16:creationId xmlns:a16="http://schemas.microsoft.com/office/drawing/2014/main" id="{8572E905-0904-403B-A06E-E91F0CF7AC21}"/>
              </a:ext>
            </a:extLst>
          </p:cNvPr>
          <p:cNvSpPr>
            <a:spLocks xmlns:a="http://schemas.openxmlformats.org/drawingml/2006/main" noGrp="1"/>
          </p:cNvSpPr>
          <p:nvPr/>
        </p:nvSpPr>
        <p:spPr>
          <a:xfrm xmlns:a="http://schemas.openxmlformats.org/drawingml/2006/main">
            <a:off x="685800" y="16573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82B3B"/>
                </a:solidFill>
                <a:latin typeface="DejaVu Sans"/>
                <a:ea typeface="DejaVu Sans"/>
                <a:cs typeface="DejaVu Sans"/>
              </a:defRPr>
            </a:defPPr>
          </a:lstStyle>
          <a:p xmlns:a="http://schemas.openxmlformats.org/drawingml/2006/main">
            <a:pPr>
              <a:defRPr sz="2100" b="1">
                <a:solidFill>
                  <a:srgbClr val="182B3B"/>
                </a:solidFill>
                <a:latin typeface="DejaVu Sans"/>
                <a:ea typeface="DejaVu Sans"/>
                <a:cs typeface="DejaVu Sans"/>
              </a:defRPr>
            </a:pPr>
            <a:r>
              <a:rPr sz="2100" b="1">
                <a:solidFill>
                  <a:srgbClr val="182B3B"/>
                </a:solidFill>
                <a:latin typeface="DejaVu Sans"/>
                <a:ea typeface="DejaVu Sans"/>
                <a:cs typeface="DejaVu Sans"/>
              </a:rPr>
              <a:t>Работа агента</a:t>
            </a:r>
          </a:p>
        </p:txBody>
      </p:sp>
      <p:sp>
        <p:nvSpPr>
          <p:cNvPr id="3" name="">
            <a:extLst xmlns:a="http://schemas.openxmlformats.org/drawingml/2006/main">
              <a:ext uri="{FF2B5EF4-FFF2-40B4-BE49-F238E27FC236}">
                <a16:creationId xmlns:a16="http://schemas.microsoft.com/office/drawing/2014/main" id="{0B38A533-15C2-4787-821D-6A586D80B98A}"/>
              </a:ext>
            </a:extLst>
          </p:cNvPr>
          <p:cNvSpPr>
            <a:spLocks xmlns:a="http://schemas.openxmlformats.org/drawingml/2006/main" noGrp="1"/>
          </p:cNvSpPr>
          <p:nvPr/>
        </p:nvSpPr>
        <p:spPr>
          <a:xfrm xmlns:a="http://schemas.openxmlformats.org/drawingml/2006/main">
            <a:off x="685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Запрос и</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история</a:t>
            </a:r>
          </a:p>
        </p:txBody>
      </p:sp>
      <p:sp>
        <p:nvSpPr>
          <p:cNvPr id="4" name="">
            <a:extLst xmlns:a="http://schemas.openxmlformats.org/drawingml/2006/main">
              <a:ext uri="{FF2B5EF4-FFF2-40B4-BE49-F238E27FC236}">
                <a16:creationId xmlns:a16="http://schemas.microsoft.com/office/drawing/2014/main" id="{79F7A02A-A10D-4591-B8BF-1397C01CBD7B}"/>
              </a:ext>
            </a:extLst>
          </p:cNvPr>
          <p:cNvSpPr>
            <a:spLocks xmlns:a="http://schemas.openxmlformats.org/drawingml/2006/main" noGrp="1"/>
          </p:cNvSpPr>
          <p:nvPr/>
        </p:nvSpPr>
        <p:spPr>
          <a:xfrm xmlns:a="http://schemas.openxmlformats.org/drawingml/2006/main">
            <a:off x="3543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Выбор</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следующего</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действия</a:t>
            </a:r>
          </a:p>
        </p:txBody>
      </p:sp>
      <p:sp>
        <p:nvSpPr>
          <p:cNvPr id="5" name="">
            <a:extLst xmlns:a="http://schemas.openxmlformats.org/drawingml/2006/main">
              <a:ext uri="{FF2B5EF4-FFF2-40B4-BE49-F238E27FC236}">
                <a16:creationId xmlns:a16="http://schemas.microsoft.com/office/drawing/2014/main" id="{C8CF7831-AE8C-4881-A8EA-CD3C5A22C750}"/>
              </a:ext>
            </a:extLst>
          </p:cNvPr>
          <p:cNvSpPr>
            <a:spLocks xmlns:a="http://schemas.openxmlformats.org/drawingml/2006/main" noGrp="1"/>
          </p:cNvSpPr>
          <p:nvPr/>
        </p:nvSpPr>
        <p:spPr>
          <a:xfrm xmlns:a="http://schemas.openxmlformats.org/drawingml/2006/main">
            <a:off x="6400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Ответ, поиск</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или операция</a:t>
            </a:r>
          </a:p>
        </p:txBody>
      </p:sp>
      <p:sp>
        <p:nvSpPr>
          <p:cNvPr id="6" name="">
            <a:extLst xmlns:a="http://schemas.openxmlformats.org/drawingml/2006/main">
              <a:ext uri="{FF2B5EF4-FFF2-40B4-BE49-F238E27FC236}">
                <a16:creationId xmlns:a16="http://schemas.microsoft.com/office/drawing/2014/main" id="{7AA1C656-2CCF-4A3C-9984-20530511612D}"/>
              </a:ext>
            </a:extLst>
          </p:cNvPr>
          <p:cNvSpPr>
            <a:spLocks xmlns:a="http://schemas.openxmlformats.org/drawingml/2006/main" noGrp="1"/>
          </p:cNvSpPr>
          <p:nvPr/>
        </p:nvSpPr>
        <p:spPr>
          <a:xfrm xmlns:a="http://schemas.openxmlformats.org/drawingml/2006/main">
            <a:off x="9258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Обновление</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истории</a:t>
            </a:r>
          </a:p>
        </p:txBody>
      </p:sp>
      <p:sp>
        <p:nvSpPr>
          <p:cNvPr id="10" name="">
            <a:extLst xmlns:a="http://schemas.openxmlformats.org/drawingml/2006/main">
              <a:ext uri="{FF2B5EF4-FFF2-40B4-BE49-F238E27FC236}">
                <a16:creationId xmlns:a16="http://schemas.microsoft.com/office/drawing/2014/main" id="{DD82E191-C4C0-4347-BE60-782042B10A6F}"/>
              </a:ext>
            </a:extLst>
          </p:cNvPr>
          <p:cNvSpPr>
            <a:spLocks xmlns:a="http://schemas.openxmlformats.org/drawingml/2006/main" noGrp="1"/>
          </p:cNvSpPr>
          <p:nvPr/>
        </p:nvSpPr>
        <p:spPr>
          <a:xfrm xmlns:a="http://schemas.openxmlformats.org/drawingml/2006/main">
            <a:off x="685800" y="33432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После ответа пользователя или результата инструмента выбираем следующий шаг</a:t>
            </a:r>
          </a:p>
        </p:txBody>
      </p:sp>
      <p:sp>
        <p:nvSpPr>
          <p:cNvPr id="11" name="">
            <a:extLst xmlns:a="http://schemas.openxmlformats.org/drawingml/2006/main">
              <a:ext uri="{FF2B5EF4-FFF2-40B4-BE49-F238E27FC236}">
                <a16:creationId xmlns:a16="http://schemas.microsoft.com/office/drawing/2014/main" id="{7ECB8A2E-B77E-40DB-8CCB-4C965712AD6B}"/>
              </a:ext>
            </a:extLst>
          </p:cNvPr>
          <p:cNvSpPr>
            <a:spLocks xmlns:a="http://schemas.openxmlformats.org/drawingml/2006/main" noGrp="1"/>
          </p:cNvSpPr>
          <p:nvPr/>
        </p:nvSpPr>
        <p:spPr>
          <a:xfrm xmlns:a="http://schemas.openxmlformats.org/drawingml/2006/main">
            <a:off x="685800" y="40862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82B3B"/>
                </a:solidFill>
                <a:latin typeface="DejaVu Sans"/>
                <a:ea typeface="DejaVu Sans"/>
                <a:cs typeface="DejaVu Sans"/>
              </a:defRPr>
            </a:defPPr>
          </a:lstStyle>
          <a:p xmlns:a="http://schemas.openxmlformats.org/drawingml/2006/main">
            <a:pPr>
              <a:defRPr sz="2100" b="1">
                <a:solidFill>
                  <a:srgbClr val="182B3B"/>
                </a:solidFill>
                <a:latin typeface="DejaVu Sans"/>
                <a:ea typeface="DejaVu Sans"/>
                <a:cs typeface="DejaVu Sans"/>
              </a:defRPr>
            </a:pPr>
            <a:r>
              <a:rPr sz="2100" b="1">
                <a:solidFill>
                  <a:srgbClr val="182B3B"/>
                </a:solidFill>
                <a:latin typeface="DejaVu Sans"/>
                <a:ea typeface="DejaVu Sans"/>
                <a:cs typeface="DejaVu Sans"/>
              </a:rPr>
              <a:t>Проверка в тестовой среде</a:t>
            </a:r>
          </a:p>
        </p:txBody>
      </p:sp>
      <p:sp>
        <p:nvSpPr>
          <p:cNvPr id="12" name="">
            <a:extLst xmlns:a="http://schemas.openxmlformats.org/drawingml/2006/main">
              <a:ext uri="{FF2B5EF4-FFF2-40B4-BE49-F238E27FC236}">
                <a16:creationId xmlns:a16="http://schemas.microsoft.com/office/drawing/2014/main" id="{2B0F3CC2-8DAE-4D8A-9770-C8627E8C5FC5}"/>
              </a:ext>
            </a:extLst>
          </p:cNvPr>
          <p:cNvSpPr>
            <a:spLocks xmlns:a="http://schemas.openxmlformats.org/drawingml/2006/main" noGrp="1"/>
          </p:cNvSpPr>
          <p:nvPr/>
        </p:nvSpPr>
        <p:spPr>
          <a:xfrm xmlns:a="http://schemas.openxmlformats.org/drawingml/2006/main">
            <a:off x="685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Задать</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начальные данные</a:t>
            </a:r>
          </a:p>
        </p:txBody>
      </p:sp>
      <p:sp>
        <p:nvSpPr>
          <p:cNvPr id="13" name="">
            <a:extLst xmlns:a="http://schemas.openxmlformats.org/drawingml/2006/main">
              <a:ext uri="{FF2B5EF4-FFF2-40B4-BE49-F238E27FC236}">
                <a16:creationId xmlns:a16="http://schemas.microsoft.com/office/drawing/2014/main" id="{7C19C695-86B6-4132-A4C3-73599A58D1BC}"/>
              </a:ext>
            </a:extLst>
          </p:cNvPr>
          <p:cNvSpPr>
            <a:spLocks xmlns:a="http://schemas.openxmlformats.org/drawingml/2006/main" noGrp="1"/>
          </p:cNvSpPr>
          <p:nvPr/>
        </p:nvSpPr>
        <p:spPr>
          <a:xfrm xmlns:a="http://schemas.openxmlformats.org/drawingml/2006/main">
            <a:off x="3543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Запустить</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диалог с агентом</a:t>
            </a:r>
          </a:p>
        </p:txBody>
      </p:sp>
      <p:sp>
        <p:nvSpPr>
          <p:cNvPr id="14" name="">
            <a:extLst xmlns:a="http://schemas.openxmlformats.org/drawingml/2006/main">
              <a:ext uri="{FF2B5EF4-FFF2-40B4-BE49-F238E27FC236}">
                <a16:creationId xmlns:a16="http://schemas.microsoft.com/office/drawing/2014/main" id="{7EE1CB82-0485-484C-BD9E-CB64B7752DE1}"/>
              </a:ext>
            </a:extLst>
          </p:cNvPr>
          <p:cNvSpPr>
            <a:spLocks xmlns:a="http://schemas.openxmlformats.org/drawingml/2006/main" noGrp="1"/>
          </p:cNvSpPr>
          <p:nvPr/>
        </p:nvSpPr>
        <p:spPr>
          <a:xfrm xmlns:a="http://schemas.openxmlformats.org/drawingml/2006/main">
            <a:off x="6400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Проверить итог</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и действия</a:t>
            </a:r>
          </a:p>
        </p:txBody>
      </p:sp>
      <p:sp>
        <p:nvSpPr>
          <p:cNvPr id="15" name="">
            <a:extLst xmlns:a="http://schemas.openxmlformats.org/drawingml/2006/main">
              <a:ext uri="{FF2B5EF4-FFF2-40B4-BE49-F238E27FC236}">
                <a16:creationId xmlns:a16="http://schemas.microsoft.com/office/drawing/2014/main" id="{3F742A1A-2514-46AC-8913-2784A2118BEB}"/>
              </a:ext>
            </a:extLst>
          </p:cNvPr>
          <p:cNvSpPr>
            <a:spLocks xmlns:a="http://schemas.openxmlformats.org/drawingml/2006/main" noGrp="1"/>
          </p:cNvSpPr>
          <p:nvPr/>
        </p:nvSpPr>
        <p:spPr>
          <a:xfrm xmlns:a="http://schemas.openxmlformats.org/drawingml/2006/main">
            <a:off x="9258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defPPr algn="ctr">
              <a:defRPr sz="1800">
                <a:solidFill>
                  <a:srgbClr val="182B3B"/>
                </a:solidFill>
                <a:latin typeface="DejaVu Sans"/>
                <a:ea typeface="DejaVu Sans"/>
                <a:cs typeface="DejaVu Sans"/>
              </a:defRPr>
            </a:defPPr>
          </a:lstStyle>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Записать успех,</a:t>
            </a:r>
          </a:p>
          <a:p xmlns:a="http://schemas.openxmlformats.org/drawingml/2006/main">
            <a:pPr algn="ctr">
              <a:defRPr sz="1800">
                <a:solidFill>
                  <a:srgbClr val="182B3B"/>
                </a:solidFill>
                <a:latin typeface="DejaVu Sans"/>
                <a:ea typeface="DejaVu Sans"/>
                <a:cs typeface="DejaVu Sans"/>
              </a:defRPr>
            </a:pPr>
            <a:r>
              <a:rPr sz="1800">
                <a:solidFill>
                  <a:srgbClr val="182B3B"/>
                </a:solidFill>
                <a:latin typeface="DejaVu Sans"/>
                <a:ea typeface="DejaVu Sans"/>
                <a:cs typeface="DejaVu Sans"/>
              </a:rPr>
              <a:t>затраты и время</a:t>
            </a:r>
          </a:p>
        </p:txBody>
      </p:sp>
      <p:sp>
        <p:nvSpPr>
          <p:cNvPr id="19" name="">
            <a:extLst xmlns:a="http://schemas.openxmlformats.org/drawingml/2006/main">
              <a:ext uri="{FF2B5EF4-FFF2-40B4-BE49-F238E27FC236}">
                <a16:creationId xmlns:a16="http://schemas.microsoft.com/office/drawing/2014/main" id="{E8B1D327-1993-4244-A890-1F533C2CB30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Один тест — полный диалог. Сравниваем варианты на одних задачах</a:t>
            </a:r>
          </a:p>
        </p:txBody>
      </p:sp>
      <p:sp>
        <p:nvSpPr>
          <p:cNvPr id="20" name="">
            <a:extLst xmlns:a="http://schemas.openxmlformats.org/drawingml/2006/main">
              <a:ext uri="{FF2B5EF4-FFF2-40B4-BE49-F238E27FC236}">
                <a16:creationId xmlns:a16="http://schemas.microsoft.com/office/drawing/2014/main" id="{B6D3F1EC-11CD-4F29-9E79-C3FC9E22884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03</a:t>
            </a:r>
          </a:p>
        </p:txBody>
      </p:sp>
    </p:spTree>
    <p:extLst>
      <p:ext uri="{BB962C8B-B14F-4D97-AF65-F5344CB8AC3E}">
        <p14:creationId xmlns:p14="http://schemas.microsoft.com/office/powerpoint/2010/main" val="272756750"/>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F07A4E-77A9-4CF3-A3F8-E38C75E93D4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Типизированная модель для отдельного решения</a:t>
            </a:r>
          </a:p>
        </p:txBody>
      </p:sp>
      <p:sp>
        <p:nvSpPr>
          <p:cNvPr id="2" name="">
            <a:extLst xmlns:a="http://schemas.openxmlformats.org/drawingml/2006/main">
              <a:ext uri="{FF2B5EF4-FFF2-40B4-BE49-F238E27FC236}">
                <a16:creationId xmlns:a16="http://schemas.microsoft.com/office/drawing/2014/main" id="{0556A948-ED07-4784-99F9-72101B51C0BC}"/>
              </a:ext>
            </a:extLst>
          </p:cNvPr>
          <p:cNvSpPr>
            <a:spLocks xmlns:a="http://schemas.openxmlformats.org/drawingml/2006/main" noGrp="1"/>
          </p:cNvSpPr>
          <p:nvPr/>
        </p:nvSpPr>
        <p:spPr>
          <a:xfrm xmlns:a="http://schemas.openxmlformats.org/drawingml/2006/main">
            <a:off x="685800" y="1657350"/>
            <a:ext cx="10715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Модель оценивает текст ситуации и выбирает один из заранее заданных ответов</a:t>
            </a:r>
          </a:p>
        </p:txBody>
      </p:sp>
      <p:graphicFrame>
        <p:nvGraphicFramePr>
          <p:cNvPr id="3" name="">
            <a:extLst xmlns:a="http://schemas.openxmlformats.org/drawingml/2006/main">
              <a:ext uri="{FF2B5EF4-FFF2-40B4-BE49-F238E27FC236}">
                <a16:creationId xmlns:a16="http://schemas.microsoft.com/office/drawing/2014/main" id="{C50CEFEC-90FF-4111-B0D2-5436509A3D2E}"/>
              </a:ext>
            </a:extLst>
          </p:cNvPr>
          <p:cNvGraphicFramePr/>
          <p:nvPr/>
        </p:nvGraphicFramePr>
        <p:xfrm>
          <a:off xmlns:a="http://schemas.openxmlformats.org/drawingml/2006/main" x="685800" y="2466975"/>
          <a:ext xmlns:a="http://schemas.openxmlformats.org/drawingml/2006/main" cx="10820400" cy="2762250"/>
        </p:xfrm>
        <a:graphic xmlns:a="http://schemas.openxmlformats.org/drawingml/2006/main">
          <a:graphicData uri="http://schemas.openxmlformats.org/drawingml/2006/table">
            <a:tbl>
              <a:tblPr/>
              <a:tblGrid>
                <a:gridCol w="5381625"/>
                <a:gridCol w="5438775"/>
              </a:tblGrid>
              <a:tr h="552450">
                <a:tc>
                  <a:txBody>
                    <a:bodyPr>
                      <a:noAutofit/>
                    </a:bodyPr>
                    <a:lstStyle/>
                    <a:p>
                      <a:r>
                        <a:rPr sz="1800" b="1">
                          <a:solidFill>
                            <a:srgbClr val="FFFFFF"/>
                          </a:solidFill>
                          <a:latin typeface="DejaVu Sans"/>
                          <a:ea typeface="DejaVu Sans"/>
                          <a:cs typeface="DejaVu Sans"/>
                        </a:rPr>
                        <a:t>Вход модели</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Выход модели</a:t>
                      </a:r>
                    </a:p>
                  </a:txBody>
                  <a:tcPr marL="133350" marR="133350" marT="95250" marB="95250" anchor="ctr">
                    <a:solidFill>
                      <a:srgbClr val="182B3B"/>
                    </a:solidFill>
                  </a:tcPr>
                </a:tc>
              </a:tr>
              <a:tr h="1104900">
                <a:tc>
                  <a:txBody>
                    <a:bodyPr>
                      <a:noAutofit/>
                    </a:bodyPr>
                    <a:lstStyle/>
                    <a:p>
                      <a:r>
                        <a:rPr sz="1800" b="1">
                          <a:solidFill>
                            <a:srgbClr val="182B3B"/>
                          </a:solidFill>
                          <a:latin typeface="DejaVu Sans"/>
                          <a:ea typeface="DejaVu Sans"/>
                          <a:cs typeface="DejaVu Sans"/>
                        </a:rPr>
                        <a:t>История обращения и найденные сведения</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Выбранное действие из заданного списка</a:t>
                      </a:r>
                    </a:p>
                  </a:txBody>
                  <a:tcPr marL="133350" marR="133350" marT="95250" marB="95250" anchor="ctr">
                    <a:solidFill>
                      <a:srgbClr val="F4F1EA"/>
                    </a:solidFill>
                  </a:tcPr>
                </a:tc>
              </a:tr>
              <a:tr h="1104900">
                <a:tc>
                  <a:txBody>
                    <a:bodyPr>
                      <a:noAutofit/>
                    </a:bodyPr>
                    <a:lstStyle/>
                    <a:p>
                      <a:r>
                        <a:rPr sz="1800" b="1">
                          <a:solidFill>
                            <a:srgbClr val="182B3B"/>
                          </a:solidFill>
                          <a:latin typeface="DejaVu Sans"/>
                          <a:ea typeface="DejaVu Sans"/>
                          <a:cs typeface="DejaVu Sans"/>
                        </a:rPr>
                        <a:t>Допустимые действия:</a:t>
                      </a:r>
                    </a:p>
                    <a:p>
                      <a:r>
                        <a:rPr sz="1800" b="1">
                          <a:solidFill>
                            <a:srgbClr val="182B3B"/>
                          </a:solidFill>
                          <a:latin typeface="DejaVu Sans"/>
                          <a:ea typeface="DejaVu Sans"/>
                          <a:cs typeface="DejaVu Sans"/>
                        </a:rPr>
                        <a:t>уточнить, искать документ, передать оператору</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Вероятности вариантов,</a:t>
                      </a:r>
                    </a:p>
                    <a:p>
                      <a:r>
                        <a:rPr sz="1800" b="0">
                          <a:solidFill>
                            <a:srgbClr val="182B3B"/>
                          </a:solidFill>
                          <a:latin typeface="DejaVu Sans"/>
                          <a:ea typeface="DejaVu Sans"/>
                          <a:cs typeface="DejaVu Sans"/>
                        </a:rPr>
                        <a:t>чтобы оценить уверенность выбора</a:t>
                      </a:r>
                    </a:p>
                  </a:txBody>
                  <a:tcPr marL="133350" marR="133350" marT="95250" marB="95250" anchor="ctr">
                    <a:solidFill>
                      <a:srgbClr val="F4F1EA"/>
                    </a:solidFill>
                  </a:tcPr>
                </a:tc>
              </a:tr>
            </a:tbl>
          </a:graphicData>
        </a:graphic>
      </p:graphicFrame>
      <p:sp>
        <p:nvSpPr>
          <p:cNvPr id="4" name="">
            <a:extLst xmlns:a="http://schemas.openxmlformats.org/drawingml/2006/main">
              <a:ext uri="{FF2B5EF4-FFF2-40B4-BE49-F238E27FC236}">
                <a16:creationId xmlns:a16="http://schemas.microsoft.com/office/drawing/2014/main" id="{BDAF2713-E508-4E5E-AA38-F69B3C20933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Проверяем экономию при допустимой потере качества полного обращения</a:t>
            </a:r>
          </a:p>
        </p:txBody>
      </p:sp>
      <p:sp>
        <p:nvSpPr>
          <p:cNvPr id="5" name="">
            <a:extLst xmlns:a="http://schemas.openxmlformats.org/drawingml/2006/main">
              <a:ext uri="{FF2B5EF4-FFF2-40B4-BE49-F238E27FC236}">
                <a16:creationId xmlns:a16="http://schemas.microsoft.com/office/drawing/2014/main" id="{20CCF8E1-6353-4ED8-9921-69A45112811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04</a:t>
            </a:r>
          </a:p>
        </p:txBody>
      </p:sp>
    </p:spTree>
    <p:extLst>
      <p:ext uri="{BB962C8B-B14F-4D97-AF65-F5344CB8AC3E}">
        <p14:creationId xmlns:p14="http://schemas.microsoft.com/office/powerpoint/2010/main" val="807595083"/>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40D0ED-60E0-4735-B331-56695FED5EAA}"/>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Контролируемая замена одного узла</a:t>
            </a:r>
          </a:p>
        </p:txBody>
      </p:sp>
      <p:sp>
        <p:nvSpPr>
          <p:cNvPr id="2" name="">
            <a:extLst xmlns:a="http://schemas.openxmlformats.org/drawingml/2006/main">
              <a:ext uri="{FF2B5EF4-FFF2-40B4-BE49-F238E27FC236}">
                <a16:creationId xmlns:a16="http://schemas.microsoft.com/office/drawing/2014/main" id="{36D72C87-87F7-4014-A9E8-B68EA27AF267}"/>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Постоянные условия</a:t>
            </a:r>
          </a:p>
        </p:txBody>
      </p:sp>
      <p:sp>
        <p:nvSpPr>
          <p:cNvPr id="3" name="">
            <a:extLst xmlns:a="http://schemas.openxmlformats.org/drawingml/2006/main">
              <a:ext uri="{FF2B5EF4-FFF2-40B4-BE49-F238E27FC236}">
                <a16:creationId xmlns:a16="http://schemas.microsoft.com/office/drawing/2014/main" id="{D189D301-65E3-48DB-88BE-891B7A81D862}"/>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Те же задачи, среда, инструменты и языковая модель диалога</a:t>
            </a:r>
          </a:p>
        </p:txBody>
      </p:sp>
      <p:sp>
        <p:nvSpPr>
          <p:cNvPr id="4" name="">
            <a:extLst xmlns:a="http://schemas.openxmlformats.org/drawingml/2006/main">
              <a:ext uri="{FF2B5EF4-FFF2-40B4-BE49-F238E27FC236}">
                <a16:creationId xmlns:a16="http://schemas.microsoft.com/office/drawing/2014/main" id="{53B74CAC-9E1A-4CEF-B8CB-223606367B5F}"/>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Изменяемый фактор</a:t>
            </a:r>
          </a:p>
        </p:txBody>
      </p:sp>
      <p:sp>
        <p:nvSpPr>
          <p:cNvPr id="5" name="">
            <a:extLst xmlns:a="http://schemas.openxmlformats.org/drawingml/2006/main">
              <a:ext uri="{FF2B5EF4-FFF2-40B4-BE49-F238E27FC236}">
                <a16:creationId xmlns:a16="http://schemas.microsoft.com/office/drawing/2014/main" id="{E14E7F43-394B-48A0-99C4-FABCE799F921}"/>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Метод одного решения: языковая модель, простой метод или типизированная модель</a:t>
            </a:r>
          </a:p>
        </p:txBody>
      </p:sp>
      <p:sp>
        <p:nvSpPr>
          <p:cNvPr id="6" name="">
            <a:extLst xmlns:a="http://schemas.openxmlformats.org/drawingml/2006/main">
              <a:ext uri="{FF2B5EF4-FFF2-40B4-BE49-F238E27FC236}">
                <a16:creationId xmlns:a16="http://schemas.microsoft.com/office/drawing/2014/main" id="{CD956A3C-980D-43FD-B02E-F42BE67A6B2B}"/>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Первый узел</a:t>
            </a:r>
          </a:p>
        </p:txBody>
      </p:sp>
      <p:sp>
        <p:nvSpPr>
          <p:cNvPr id="7" name="">
            <a:extLst xmlns:a="http://schemas.openxmlformats.org/drawingml/2006/main">
              <a:ext uri="{FF2B5EF4-FFF2-40B4-BE49-F238E27FC236}">
                <a16:creationId xmlns:a16="http://schemas.microsoft.com/office/drawing/2014/main" id="{F1CDA12F-84E4-4B7F-8447-218A700A007B}"/>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Выбор следующего действия либо отбор документов для ответа</a:t>
            </a:r>
          </a:p>
        </p:txBody>
      </p:sp>
      <p:sp>
        <p:nvSpPr>
          <p:cNvPr id="8" name="">
            <a:extLst xmlns:a="http://schemas.openxmlformats.org/drawingml/2006/main">
              <a:ext uri="{FF2B5EF4-FFF2-40B4-BE49-F238E27FC236}">
                <a16:creationId xmlns:a16="http://schemas.microsoft.com/office/drawing/2014/main" id="{F5F03D2B-9180-41F1-A193-93DA61E08A2E}"/>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Проверка эффекта</a:t>
            </a:r>
          </a:p>
        </p:txBody>
      </p:sp>
      <p:sp>
        <p:nvSpPr>
          <p:cNvPr id="9" name="">
            <a:extLst xmlns:a="http://schemas.openxmlformats.org/drawingml/2006/main">
              <a:ext uri="{FF2B5EF4-FFF2-40B4-BE49-F238E27FC236}">
                <a16:creationId xmlns:a16="http://schemas.microsoft.com/office/drawing/2014/main" id="{E3FB53A5-56FA-46D4-9C00-FEC967AE424B}"/>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Ошибки выбранного узла и полный результат агента на одинаковых задачах</a:t>
            </a:r>
          </a:p>
        </p:txBody>
      </p:sp>
      <p:sp>
        <p:nvSpPr>
          <p:cNvPr id="10" name="">
            <a:extLst xmlns:a="http://schemas.openxmlformats.org/drawingml/2006/main">
              <a:ext uri="{FF2B5EF4-FFF2-40B4-BE49-F238E27FC236}">
                <a16:creationId xmlns:a16="http://schemas.microsoft.com/office/drawing/2014/main" id="{7ADE5AF9-63DD-4413-AD4F-E247BBB7FE03}"/>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Первый узел выберем по пробным запускам: где решение влияет на ошибки и затраты</a:t>
            </a:r>
          </a:p>
        </p:txBody>
      </p:sp>
      <p:sp>
        <p:nvSpPr>
          <p:cNvPr id="11" name="">
            <a:extLst xmlns:a="http://schemas.openxmlformats.org/drawingml/2006/main">
              <a:ext uri="{FF2B5EF4-FFF2-40B4-BE49-F238E27FC236}">
                <a16:creationId xmlns:a16="http://schemas.microsoft.com/office/drawing/2014/main" id="{07659B5A-F300-4D1B-A683-F5026AA8ECE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05</a:t>
            </a:r>
          </a:p>
        </p:txBody>
      </p:sp>
    </p:spTree>
    <p:extLst>
      <p:ext uri="{BB962C8B-B14F-4D97-AF65-F5344CB8AC3E}">
        <p14:creationId xmlns:p14="http://schemas.microsoft.com/office/powerpoint/2010/main" val="81777481"/>
      </p:ext>
    </p:extLst>
  </p:cSld>
</p:sld>
</file>

<file path=ppt/slides/slide6.xml><?xml version="1.0" encoding="utf-8"?>
<p:sld xmlns:a="http://schemas.openxmlformats.org/drawingml/2006/main"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4DC400-3412-48C6-B461-0226D283A159}"/>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Математическая задача выбора метода</a:t>
            </a:r>
          </a:p>
        </p:txBody>
      </p:sp>
      <p:sp>
        <p:nvSpPr>
          <p:cNvPr id="2" name="">
            <a:extLst xmlns:a="http://schemas.openxmlformats.org/drawingml/2006/main">
              <a:ext uri="{FF2B5EF4-FFF2-40B4-BE49-F238E27FC236}">
                <a16:creationId xmlns:a16="http://schemas.microsoft.com/office/drawing/2014/main" id="{7D542579-ED76-4C2B-8F89-D2D81FEE5DAB}"/>
              </a:ext>
            </a:extLst>
          </p:cNvPr>
          <p:cNvSpPr>
            <a:spLocks xmlns:a="http://schemas.openxmlformats.org/drawingml/2006/main" noGrp="1"/>
          </p:cNvSpPr>
          <p:nvPr/>
        </p:nvSpPr>
        <p:spPr>
          <a:xfrm>
            <a:off x="685800" y="1647825"/>
            <a:ext cx="10820400" cy="51435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Минимальная средняя стоимость при допустимой потере качества</a:t>
            </a:r>
          </a:p>
        </p:txBody>
      </p:sp>
      <p:sp>
        <p:nvSpPr>
          <p:cNvPr id="5" name="Objective: expected full agent cost">
            <a:extLst xmlns:a="http://schemas.openxmlformats.org/drawingml/2006/main">
              <a:ext uri="{FF2B5EF4-FFF2-40B4-BE49-F238E27FC236}">
                <a16:creationId xmlns:a16="http://schemas.microsoft.com/office/drawing/2014/main" id="{E0910712-352D-457C-A69B-EA2BD8A14D0C}"/>
              </a:ext>
            </a:extLst>
          </p:cNvPr>
          <p:cNvSpPr>
            <a:spLocks xmlns:a="http://schemas.openxmlformats.org/drawingml/2006/main" noGrp="1"/>
          </p:cNvSpPr>
          <p:nvPr/>
        </p:nvSpPr>
        <p:spPr>
          <a:xfrm>
            <a:off x="1304925" y="2257425"/>
            <a:ext cx="10144125" cy="942975"/>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limLow>
                    <m:limLowPr>
                      <m:ctrlPr>
                        <a:rPr lang="ru-RU" sz="3450" i="0" b="0">
                          <a:solidFill>
                            <a:srgbClr val="182B3B"/>
                          </a:solidFill>
                          <a:latin typeface="Cambria Math"/>
                          <a:ea typeface="Cambria Math"/>
                          <a:cs typeface="Cambria Math"/>
                        </a:rPr>
                      </m:ctrlPr>
                    </m:limLowPr>
                    <m:e>
                      <m:r>
                        <m:rPr>
                          <m:sty m:val="p"/>
                        </m:rPr>
                        <a:rPr lang="ru-RU" sz="3450" i="0" b="0">
                          <a:solidFill>
                            <a:srgbClr val="182B3B"/>
                          </a:solidFill>
                          <a:latin typeface="Cambria Math"/>
                          <a:ea typeface="Cambria Math"/>
                          <a:cs typeface="Cambria Math"/>
                        </a:rPr>
                        <m:t xml:space="preserve">min</m:t>
                      </m:r>
                    </m:e>
                    <m:lim>
                      <m:r>
                        <m:rPr>
                          <m:sty m:val="i"/>
                        </m:rPr>
                        <a:rPr lang="ru-RU" sz="3450" i="1" b="0">
                          <a:solidFill>
                            <a:srgbClr val="182B3B"/>
                          </a:solidFill>
                          <a:latin typeface="Cambria Math"/>
                          <a:ea typeface="Cambria Math"/>
                          <a:cs typeface="Cambria Math"/>
                        </a:rPr>
                        <m:t xml:space="preserve">π</m:t>
                      </m:r>
                      <m:r>
                        <m:rPr>
                          <m:sty m:val="p"/>
                        </m:rPr>
                        <a:rPr lang="ru-RU" sz="3450" i="0" b="0">
                          <a:solidFill>
                            <a:srgbClr val="182B3B"/>
                          </a:solidFill>
                          <a:latin typeface="Cambria Math"/>
                          <a:ea typeface="Cambria Math"/>
                          <a:cs typeface="Cambria Math"/>
                        </a:rPr>
                        <m:t xml:space="preserve"> ∈ Π</m:t>
                      </m:r>
                    </m:lim>
                  </m:limLow>
                  <m:r>
                    <m:rPr>
                      <m:sty m:val="p"/>
                    </m:rPr>
                    <a:rPr lang="ru-RU" sz="3450" i="0" b="0">
                      <a:solidFill>
                        <a:srgbClr val="182B3B"/>
                      </a:solidFill>
                      <a:latin typeface="Cambria Math"/>
                      <a:ea typeface="Cambria Math"/>
                      <a:cs typeface="Cambria Math"/>
                    </a:rPr>
                    <m:t xml:space="preserve">  </m:t>
                  </m:r>
                  <m:r>
                    <m:rPr>
                      <m:sty m:val="p"/>
                    </m:rPr>
                    <a:rPr lang="ru-RU" sz="3450" i="0" b="0">
                      <a:solidFill>
                        <a:srgbClr val="182B3B"/>
                      </a:solidFill>
                      <a:latin typeface="Cambria Math"/>
                      <a:ea typeface="Cambria Math"/>
                      <a:cs typeface="Cambria Math"/>
                    </a:rPr>
                    <m:t xml:space="preserve">𝔼</m:t>
                  </m:r>
                  <m:d>
                    <m:dPr>
                      <m:begChr m:val="["/>
                      <m:endChr m:val="]"/>
                      <m:ctrlPr>
                        <a:rPr lang="ru-RU" sz="3450" i="0" b="0">
                          <a:solidFill>
                            <a:srgbClr val="182B3B"/>
                          </a:solidFill>
                          <a:latin typeface="Cambria Math"/>
                          <a:ea typeface="Cambria Math"/>
                          <a:cs typeface="Cambria Math"/>
                        </a:rPr>
                      </m:ctrlPr>
                    </m:dPr>
                    <m:e>
                      <m:sSub>
                        <m:sSubPr>
                          <m:ctrlPr>
                            <a:rPr lang="ru-RU" sz="3450" i="0" b="0">
                              <a:solidFill>
                                <a:srgbClr val="182B3B"/>
                              </a:solidFill>
                              <a:latin typeface="Cambria Math"/>
                              <a:ea typeface="Cambria Math"/>
                              <a:cs typeface="Cambria Math"/>
                            </a:rPr>
                          </m:ctrlPr>
                        </m:sSubPr>
                        <m:e>
                          <m:r>
                            <m:rPr>
                              <m:sty m:val="i"/>
                            </m:rPr>
                            <a:rPr lang="ru-RU" sz="3450" i="1" b="0">
                              <a:solidFill>
                                <a:srgbClr val="182B3B"/>
                              </a:solidFill>
                              <a:latin typeface="Cambria Math"/>
                              <a:ea typeface="Cambria Math"/>
                              <a:cs typeface="Cambria Math"/>
                            </a:rPr>
                            <m:t xml:space="preserve">C</m:t>
                          </m:r>
                        </m:e>
                        <m:sub>
                          <m:r>
                            <m:rPr>
                              <m:sty m:val="p"/>
                            </m:rPr>
                            <a:rPr lang="ru-RU" sz="3450" i="0" b="0">
                              <a:solidFill>
                                <a:srgbClr val="182B3B"/>
                              </a:solidFill>
                              <a:latin typeface="Cambria Math"/>
                              <a:ea typeface="Cambria Math"/>
                              <a:cs typeface="Cambria Math"/>
                            </a:rPr>
                            <m:t xml:space="preserve">agent</m:t>
                          </m:r>
                        </m:sub>
                      </m:sSub>
                      <m:r>
                        <m:rPr>
                          <m:sty m:val="p"/>
                        </m:rPr>
                        <a:rPr lang="ru-RU" sz="3450" i="0" b="0">
                          <a:solidFill>
                            <a:srgbClr val="182B3B"/>
                          </a:solidFill>
                          <a:latin typeface="Cambria Math"/>
                          <a:ea typeface="Cambria Math"/>
                          <a:cs typeface="Cambria Math"/>
                        </a:rPr>
                        <m:t xml:space="preserve">(</m:t>
                      </m:r>
                      <m:r>
                        <m:rPr>
                          <m:sty m:val="i"/>
                        </m:rPr>
                        <a:rPr lang="ru-RU" sz="3450" i="1" b="0">
                          <a:solidFill>
                            <a:srgbClr val="182B3B"/>
                          </a:solidFill>
                          <a:latin typeface="Cambria Math"/>
                          <a:ea typeface="Cambria Math"/>
                          <a:cs typeface="Cambria Math"/>
                        </a:rPr>
                        <m:t xml:space="preserve">π</m:t>
                      </m:r>
                      <m:r>
                        <m:rPr>
                          <m:sty m:val="p"/>
                        </m:rPr>
                        <a:rPr lang="ru-RU" sz="3450" i="0" b="0">
                          <a:solidFill>
                            <a:srgbClr val="182B3B"/>
                          </a:solidFill>
                          <a:latin typeface="Cambria Math"/>
                          <a:ea typeface="Cambria Math"/>
                          <a:cs typeface="Cambria Math"/>
                        </a:rPr>
                        <m:t xml:space="preserve">, </m:t>
                      </m:r>
                      <m:r>
                        <m:rPr>
                          <m:sty m:val="i"/>
                        </m:rPr>
                        <a:rPr lang="ru-RU" sz="3450" i="1" b="0">
                          <a:solidFill>
                            <a:srgbClr val="182B3B"/>
                          </a:solidFill>
                          <a:latin typeface="Cambria Math"/>
                          <a:ea typeface="Cambria Math"/>
                          <a:cs typeface="Cambria Math"/>
                        </a:rPr>
                        <m:t xml:space="preserve">X</m:t>
                      </m:r>
                      <m:r>
                        <m:rPr>
                          <m:sty m:val="p"/>
                        </m:rPr>
                        <a:rPr lang="ru-RU" sz="3450" i="0" b="0">
                          <a:solidFill>
                            <a:srgbClr val="182B3B"/>
                          </a:solidFill>
                          <a:latin typeface="Cambria Math"/>
                          <a:ea typeface="Cambria Math"/>
                          <a:cs typeface="Cambria Math"/>
                        </a:rPr>
                        <m:t xml:space="preserve">)</m:t>
                      </m:r>
                    </m:e>
                  </m:d>
                </m:oMath>
              </m:oMathPara>
            </a14:m>
            <a:endParaRPr lang="ru-RU"/>
          </a:p>
        </p:txBody>
      </p:sp>
      <p:sp>
        <p:nvSpPr>
          <p:cNvPr id="6" name="">
            <a:extLst xmlns:a="http://schemas.openxmlformats.org/drawingml/2006/main">
              <a:ext uri="{FF2B5EF4-FFF2-40B4-BE49-F238E27FC236}">
                <a16:creationId xmlns:a16="http://schemas.microsoft.com/office/drawing/2014/main" id="{33175EDE-1A8F-4BFF-8787-DEC9B11C7DA0}"/>
              </a:ext>
            </a:extLst>
          </p:cNvPr>
          <p:cNvSpPr>
            <a:spLocks xmlns:a="http://schemas.openxmlformats.org/drawingml/2006/main" noGrp="1"/>
          </p:cNvSpPr>
          <p:nvPr/>
        </p:nvSpPr>
        <p:spPr>
          <a:xfrm>
            <a:off x="1304925" y="3314700"/>
            <a:ext cx="1047750" cy="542925"/>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при</a:t>
            </a:r>
          </a:p>
        </p:txBody>
      </p:sp>
      <p:sp>
        <p:nvSpPr>
          <p:cNvPr id="7" name="Constraint: allowed expected loss">
            <a:extLst xmlns:a="http://schemas.openxmlformats.org/drawingml/2006/main">
              <a:ext uri="{FF2B5EF4-FFF2-40B4-BE49-F238E27FC236}">
                <a16:creationId xmlns:a16="http://schemas.microsoft.com/office/drawing/2014/main" id="{3DF6C550-CB1B-40F5-99CF-417A62D77FB3}"/>
              </a:ext>
            </a:extLst>
          </p:cNvPr>
          <p:cNvSpPr>
            <a:spLocks xmlns:a="http://schemas.openxmlformats.org/drawingml/2006/main" noGrp="1"/>
          </p:cNvSpPr>
          <p:nvPr/>
        </p:nvSpPr>
        <p:spPr>
          <a:xfrm>
            <a:off x="2762250" y="3267075"/>
            <a:ext cx="8743950" cy="723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r>
                    <m:rPr>
                      <m:sty m:val="p"/>
                    </m:rPr>
                    <a:rPr lang="ru-RU" sz="3150" i="0" b="0">
                      <a:solidFill>
                        <a:srgbClr val="182B3B"/>
                      </a:solidFill>
                      <a:latin typeface="Cambria Math"/>
                      <a:ea typeface="Cambria Math"/>
                      <a:cs typeface="Cambria Math"/>
                    </a:rPr>
                    <m:t xml:space="preserve">𝔼</m:t>
                  </m:r>
                  <m:d>
                    <m:dPr>
                      <m:begChr m:val="["/>
                      <m:endChr m:val="]"/>
                      <m:ctrlPr>
                        <a:rPr lang="ru-RU" sz="3150" i="0" b="0">
                          <a:solidFill>
                            <a:srgbClr val="182B3B"/>
                          </a:solidFill>
                          <a:latin typeface="Cambria Math"/>
                          <a:ea typeface="Cambria Math"/>
                          <a:cs typeface="Cambria Math"/>
                        </a:rPr>
                      </m:ctrlPr>
                    </m:dPr>
                    <m:e>
                      <m:r>
                        <m:rPr>
                          <m:sty m:val="i"/>
                        </m:rPr>
                        <a:rPr lang="ru-RU" sz="3150" i="1" b="0">
                          <a:solidFill>
                            <a:srgbClr val="182B3B"/>
                          </a:solidFill>
                          <a:latin typeface="Cambria Math"/>
                          <a:ea typeface="Cambria Math"/>
                          <a:cs typeface="Cambria Math"/>
                        </a:rPr>
                        <m:t xml:space="preserve">L</m:t>
                      </m:r>
                      <m:r>
                        <m:rPr>
                          <m:sty m:val="p"/>
                        </m:rPr>
                        <a:rPr lang="ru-RU" sz="3150" i="0" b="0">
                          <a:solidFill>
                            <a:srgbClr val="182B3B"/>
                          </a:solidFill>
                          <a:latin typeface="Cambria Math"/>
                          <a:ea typeface="Cambria Math"/>
                          <a:cs typeface="Cambria Math"/>
                        </a:rPr>
                        <m:t xml:space="preserve">(</m:t>
                      </m:r>
                      <m:r>
                        <m:rPr>
                          <m:sty m:val="i"/>
                        </m:rPr>
                        <a:rPr lang="ru-RU" sz="3150" i="1" b="0">
                          <a:solidFill>
                            <a:srgbClr val="182B3B"/>
                          </a:solidFill>
                          <a:latin typeface="Cambria Math"/>
                          <a:ea typeface="Cambria Math"/>
                          <a:cs typeface="Cambria Math"/>
                        </a:rPr>
                        <m:t xml:space="preserve">π</m:t>
                      </m:r>
                      <m:r>
                        <m:rPr>
                          <m:sty m:val="p"/>
                        </m:rPr>
                        <a:rPr lang="ru-RU" sz="3150" i="0" b="0">
                          <a:solidFill>
                            <a:srgbClr val="182B3B"/>
                          </a:solidFill>
                          <a:latin typeface="Cambria Math"/>
                          <a:ea typeface="Cambria Math"/>
                          <a:cs typeface="Cambria Math"/>
                        </a:rPr>
                        <m:t xml:space="preserve">, </m:t>
                      </m:r>
                      <m:r>
                        <m:rPr>
                          <m:sty m:val="i"/>
                        </m:rPr>
                        <a:rPr lang="ru-RU" sz="3150" i="1" b="0">
                          <a:solidFill>
                            <a:srgbClr val="182B3B"/>
                          </a:solidFill>
                          <a:latin typeface="Cambria Math"/>
                          <a:ea typeface="Cambria Math"/>
                          <a:cs typeface="Cambria Math"/>
                        </a:rPr>
                        <m:t xml:space="preserve">X</m:t>
                      </m:r>
                      <m:r>
                        <m:rPr>
                          <m:sty m:val="p"/>
                        </m:rPr>
                        <a:rPr lang="ru-RU" sz="3150" i="0" b="0">
                          <a:solidFill>
                            <a:srgbClr val="182B3B"/>
                          </a:solidFill>
                          <a:latin typeface="Cambria Math"/>
                          <a:ea typeface="Cambria Math"/>
                          <a:cs typeface="Cambria Math"/>
                        </a:rPr>
                        <m:t xml:space="preserve">)</m:t>
                      </m:r>
                    </m:e>
                  </m:d>
                  <m:r>
                    <m:rPr>
                      <m:sty m:val="p"/>
                    </m:rPr>
                    <a:rPr lang="ru-RU" sz="3150" i="0" b="0">
                      <a:solidFill>
                        <a:srgbClr val="182B3B"/>
                      </a:solidFill>
                      <a:latin typeface="Cambria Math"/>
                      <a:ea typeface="Cambria Math"/>
                      <a:cs typeface="Cambria Math"/>
                    </a:rPr>
                    <m:t xml:space="preserve"> ≤ </m:t>
                  </m:r>
                  <m:r>
                    <m:rPr>
                      <m:sty m:val="p"/>
                    </m:rPr>
                    <a:rPr lang="ru-RU" sz="3150" i="0" b="0">
                      <a:solidFill>
                        <a:srgbClr val="182B3B"/>
                      </a:solidFill>
                      <a:latin typeface="Cambria Math"/>
                      <a:ea typeface="Cambria Math"/>
                      <a:cs typeface="Cambria Math"/>
                    </a:rPr>
                    <m:t xml:space="preserve">𝔼</m:t>
                  </m:r>
                  <m:d>
                    <m:dPr>
                      <m:begChr m:val="["/>
                      <m:endChr m:val="]"/>
                      <m:ctrlPr>
                        <a:rPr lang="ru-RU" sz="3150" i="0" b="0">
                          <a:solidFill>
                            <a:srgbClr val="182B3B"/>
                          </a:solidFill>
                          <a:latin typeface="Cambria Math"/>
                          <a:ea typeface="Cambria Math"/>
                          <a:cs typeface="Cambria Math"/>
                        </a:rPr>
                      </m:ctrlPr>
                    </m:dPr>
                    <m:e>
                      <m:r>
                        <m:rPr>
                          <m:sty m:val="i"/>
                        </m:rPr>
                        <a:rPr lang="ru-RU" sz="3150" i="1" b="0">
                          <a:solidFill>
                            <a:srgbClr val="182B3B"/>
                          </a:solidFill>
                          <a:latin typeface="Cambria Math"/>
                          <a:ea typeface="Cambria Math"/>
                          <a:cs typeface="Cambria Math"/>
                        </a:rPr>
                        <m:t xml:space="preserve">L</m:t>
                      </m:r>
                      <m:r>
                        <m:rPr>
                          <m:sty m:val="p"/>
                        </m:rPr>
                        <a:rPr lang="ru-RU" sz="3150" i="0" b="0">
                          <a:solidFill>
                            <a:srgbClr val="182B3B"/>
                          </a:solidFill>
                          <a:latin typeface="Cambria Math"/>
                          <a:ea typeface="Cambria Math"/>
                          <a:cs typeface="Cambria Math"/>
                        </a:rPr>
                        <m:t xml:space="preserve">(</m:t>
                      </m:r>
                      <m:sSub>
                        <m:sSubPr>
                          <m:ctrlPr>
                            <a:rPr lang="ru-RU" sz="3150" i="0" b="0">
                              <a:solidFill>
                                <a:srgbClr val="182B3B"/>
                              </a:solidFill>
                              <a:latin typeface="Cambria Math"/>
                              <a:ea typeface="Cambria Math"/>
                              <a:cs typeface="Cambria Math"/>
                            </a:rPr>
                          </m:ctrlPr>
                        </m:sSubPr>
                        <m:e>
                          <m:r>
                            <m:rPr>
                              <m:sty m:val="i"/>
                            </m:rPr>
                            <a:rPr lang="ru-RU" sz="3150" i="1" b="0">
                              <a:solidFill>
                                <a:srgbClr val="182B3B"/>
                              </a:solidFill>
                              <a:latin typeface="Cambria Math"/>
                              <a:ea typeface="Cambria Math"/>
                              <a:cs typeface="Cambria Math"/>
                            </a:rPr>
                            <m:t xml:space="preserve">π</m:t>
                          </m:r>
                        </m:e>
                        <m:sub>
                          <m:r>
                            <m:rPr>
                              <m:sty m:val="p"/>
                            </m:rPr>
                            <a:rPr lang="ru-RU" sz="3150" i="0" b="0">
                              <a:solidFill>
                                <a:srgbClr val="182B3B"/>
                              </a:solidFill>
                              <a:latin typeface="Cambria Math"/>
                              <a:ea typeface="Cambria Math"/>
                              <a:cs typeface="Cambria Math"/>
                            </a:rPr>
                            <m:t xml:space="preserve">0</m:t>
                          </m:r>
                        </m:sub>
                      </m:sSub>
                      <m:r>
                        <m:rPr>
                          <m:sty m:val="p"/>
                        </m:rPr>
                        <a:rPr lang="ru-RU" sz="3150" i="0" b="0">
                          <a:solidFill>
                            <a:srgbClr val="182B3B"/>
                          </a:solidFill>
                          <a:latin typeface="Cambria Math"/>
                          <a:ea typeface="Cambria Math"/>
                          <a:cs typeface="Cambria Math"/>
                        </a:rPr>
                        <m:t xml:space="preserve">, </m:t>
                      </m:r>
                      <m:r>
                        <m:rPr>
                          <m:sty m:val="i"/>
                        </m:rPr>
                        <a:rPr lang="ru-RU" sz="3150" i="1" b="0">
                          <a:solidFill>
                            <a:srgbClr val="182B3B"/>
                          </a:solidFill>
                          <a:latin typeface="Cambria Math"/>
                          <a:ea typeface="Cambria Math"/>
                          <a:cs typeface="Cambria Math"/>
                        </a:rPr>
                        <m:t xml:space="preserve">X</m:t>
                      </m:r>
                      <m:r>
                        <m:rPr>
                          <m:sty m:val="p"/>
                        </m:rPr>
                        <a:rPr lang="ru-RU" sz="3150" i="0" b="0">
                          <a:solidFill>
                            <a:srgbClr val="182B3B"/>
                          </a:solidFill>
                          <a:latin typeface="Cambria Math"/>
                          <a:ea typeface="Cambria Math"/>
                          <a:cs typeface="Cambria Math"/>
                        </a:rPr>
                        <m:t xml:space="preserve">)</m:t>
                      </m:r>
                    </m:e>
                  </m:d>
                  <m:r>
                    <m:rPr>
                      <m:sty m:val="p"/>
                    </m:rPr>
                    <a:rPr lang="ru-RU" sz="3150" i="0" b="0">
                      <a:solidFill>
                        <a:srgbClr val="182B3B"/>
                      </a:solidFill>
                      <a:latin typeface="Cambria Math"/>
                      <a:ea typeface="Cambria Math"/>
                      <a:cs typeface="Cambria Math"/>
                    </a:rPr>
                    <m:t xml:space="preserve"> + </m:t>
                  </m:r>
                  <m:r>
                    <m:rPr>
                      <m:sty m:val="i"/>
                    </m:rPr>
                    <a:rPr lang="ru-RU" sz="3150" i="1" b="0">
                      <a:solidFill>
                        <a:srgbClr val="182B3B"/>
                      </a:solidFill>
                      <a:latin typeface="Cambria Math"/>
                      <a:ea typeface="Cambria Math"/>
                      <a:cs typeface="Cambria Math"/>
                    </a:rPr>
                    <m:t xml:space="preserve">ε</m:t>
                  </m:r>
                </m:oMath>
              </m:oMathPara>
            </a14:m>
            <a:endParaRPr lang="ru-RU"/>
          </a:p>
        </p:txBody>
      </p:sp>
      <p:sp>
        <p:nvSpPr>
          <p:cNvPr id="8" name="">
            <a:extLst xmlns:a="http://schemas.openxmlformats.org/drawingml/2006/main">
              <a:ext uri="{FF2B5EF4-FFF2-40B4-BE49-F238E27FC236}">
                <a16:creationId xmlns:a16="http://schemas.microsoft.com/office/drawing/2014/main" id="{554017A5-3394-4FA1-BCFD-EED06E4AFE38}"/>
              </a:ext>
            </a:extLst>
          </p:cNvPr>
          <p:cNvSpPr>
            <a:spLocks xmlns:a="http://schemas.openxmlformats.org/drawingml/2006/main" noGrp="1"/>
          </p:cNvSpPr>
          <p:nvPr/>
        </p:nvSpPr>
        <p:spPr>
          <a:xfrm>
            <a:off x="685800" y="4143375"/>
            <a:ext cx="25241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r>
                    <m:rPr>
                      <m:sty m:val="i"/>
                    </m:rPr>
                    <a:rPr lang="ru-RU" sz="1800" i="1" b="0">
                      <a:solidFill>
                        <a:srgbClr val="182B3B"/>
                      </a:solidFill>
                      <a:latin typeface="Cambria Math"/>
                      <a:ea typeface="Cambria Math"/>
                      <a:cs typeface="Cambria Math"/>
                    </a:rPr>
                    <m:t xml:space="preserve">X</m:t>
                  </m:r>
                </m:oMath>
              </m:oMathPara>
            </a14:m>
            <a:endParaRPr lang="ru-RU" sz="1800"/>
          </a:p>
        </p:txBody>
      </p:sp>
      <p:sp>
        <p:nvSpPr>
          <p:cNvPr id="9" name="">
            <a:extLst xmlns:a="http://schemas.openxmlformats.org/drawingml/2006/main">
              <a:ext uri="{FF2B5EF4-FFF2-40B4-BE49-F238E27FC236}">
                <a16:creationId xmlns:a16="http://schemas.microsoft.com/office/drawing/2014/main" id="{06AD253D-AAF2-4987-AD09-083A4FCA643B}"/>
              </a:ext>
            </a:extLst>
          </p:cNvPr>
          <p:cNvSpPr>
            <a:spLocks xmlns:a="http://schemas.openxmlformats.org/drawingml/2006/main" noGrp="1"/>
          </p:cNvSpPr>
          <p:nvPr/>
        </p:nvSpPr>
        <p:spPr>
          <a:xfrm>
            <a:off x="3381375" y="4143375"/>
            <a:ext cx="81248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случайное обращение из заданного распределения</a:t>
            </a:r>
          </a:p>
        </p:txBody>
      </p:sp>
      <p:sp>
        <p:nvSpPr>
          <p:cNvPr id="10" name="">
            <a:extLst xmlns:a="http://schemas.openxmlformats.org/drawingml/2006/main">
              <a:ext uri="{FF2B5EF4-FFF2-40B4-BE49-F238E27FC236}">
                <a16:creationId xmlns:a16="http://schemas.microsoft.com/office/drawing/2014/main" id="{A680FB28-1C13-4010-84EE-1E9B33E97925}"/>
              </a:ext>
            </a:extLst>
          </p:cNvPr>
          <p:cNvSpPr>
            <a:spLocks xmlns:a="http://schemas.openxmlformats.org/drawingml/2006/main" noGrp="1"/>
          </p:cNvSpPr>
          <p:nvPr/>
        </p:nvSpPr>
        <p:spPr>
          <a:xfrm>
            <a:off x="685800" y="4495800"/>
            <a:ext cx="25241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r>
                    <m:rPr>
                      <m:sty m:val="i"/>
                    </m:rPr>
                    <a:rPr lang="ru-RU" sz="1800" i="1" b="0">
                      <a:solidFill>
                        <a:srgbClr val="182B3B"/>
                      </a:solidFill>
                      <a:latin typeface="Cambria Math"/>
                      <a:ea typeface="Cambria Math"/>
                      <a:cs typeface="Cambria Math"/>
                    </a:rPr>
                    <m:t xml:space="preserve">π</m:t>
                  </m:r>
                  <m:r>
                    <m:rPr>
                      <m:sty m:val="p"/>
                    </m:rPr>
                    <a:rPr lang="ru-RU" sz="1800" i="0" b="0">
                      <a:solidFill>
                        <a:srgbClr val="182B3B"/>
                      </a:solidFill>
                      <a:latin typeface="Cambria Math"/>
                      <a:ea typeface="Cambria Math"/>
                      <a:cs typeface="Cambria Math"/>
                    </a:rPr>
                    <m:t xml:space="preserve"> ∈ Π</m:t>
                  </m:r>
                </m:oMath>
              </m:oMathPara>
            </a14:m>
            <a:endParaRPr lang="ru-RU" sz="1800"/>
          </a:p>
        </p:txBody>
      </p:sp>
      <p:sp>
        <p:nvSpPr>
          <p:cNvPr id="11" name="">
            <a:extLst xmlns:a="http://schemas.openxmlformats.org/drawingml/2006/main">
              <a:ext uri="{FF2B5EF4-FFF2-40B4-BE49-F238E27FC236}">
                <a16:creationId xmlns:a16="http://schemas.microsoft.com/office/drawing/2014/main" id="{78627BB2-0B99-4500-90D6-5045E3E7E1E0}"/>
              </a:ext>
            </a:extLst>
          </p:cNvPr>
          <p:cNvSpPr>
            <a:spLocks xmlns:a="http://schemas.openxmlformats.org/drawingml/2006/main" noGrp="1"/>
          </p:cNvSpPr>
          <p:nvPr/>
        </p:nvSpPr>
        <p:spPr>
          <a:xfrm>
            <a:off x="3381375" y="4495800"/>
            <a:ext cx="81248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правило выбора метода из сравниваемого набора</a:t>
            </a:r>
          </a:p>
        </p:txBody>
      </p:sp>
      <p:sp>
        <p:nvSpPr>
          <p:cNvPr id="12" name="Agent cost and loss symbols">
            <a:extLst xmlns:a="http://schemas.openxmlformats.org/drawingml/2006/main">
              <a:ext uri="{FF2B5EF4-FFF2-40B4-BE49-F238E27FC236}">
                <a16:creationId xmlns:a16="http://schemas.microsoft.com/office/drawing/2014/main" id="{B5C1C463-EDCB-42A2-A441-19DC37713B90}"/>
              </a:ext>
            </a:extLst>
          </p:cNvPr>
          <p:cNvSpPr>
            <a:spLocks xmlns:a="http://schemas.openxmlformats.org/drawingml/2006/main" noGrp="1"/>
          </p:cNvSpPr>
          <p:nvPr/>
        </p:nvSpPr>
        <p:spPr>
          <a:xfrm>
            <a:off x="685800" y="4848225"/>
            <a:ext cx="25241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sSub>
                    <m:sSubPr>
                      <m:ctrlPr>
                        <a:rPr lang="ru-RU" sz="1800" i="0" b="0">
                          <a:solidFill>
                            <a:srgbClr val="182B3B"/>
                          </a:solidFill>
                          <a:latin typeface="Cambria Math"/>
                          <a:ea typeface="Cambria Math"/>
                          <a:cs typeface="Cambria Math"/>
                        </a:rPr>
                      </m:ctrlPr>
                    </m:sSubPr>
                    <m:e>
                      <m:r>
                        <m:rPr>
                          <m:sty m:val="i"/>
                        </m:rPr>
                        <a:rPr lang="ru-RU" sz="1800" i="1" b="0">
                          <a:solidFill>
                            <a:srgbClr val="182B3B"/>
                          </a:solidFill>
                          <a:latin typeface="Cambria Math"/>
                          <a:ea typeface="Cambria Math"/>
                          <a:cs typeface="Cambria Math"/>
                        </a:rPr>
                        <m:t xml:space="preserve">C</m:t>
                      </m:r>
                    </m:e>
                    <m:sub>
                      <m:r>
                        <m:rPr>
                          <m:sty m:val="p"/>
                        </m:rPr>
                        <a:rPr lang="ru-RU" sz="1800" i="0" b="0">
                          <a:solidFill>
                            <a:srgbClr val="182B3B"/>
                          </a:solidFill>
                          <a:latin typeface="Cambria Math"/>
                          <a:ea typeface="Cambria Math"/>
                          <a:cs typeface="Cambria Math"/>
                        </a:rPr>
                        <m:t xml:space="preserve">agent</m:t>
                      </m:r>
                    </m:sub>
                  </m:sSub>
                  <m:r>
                    <m:rPr>
                      <m:sty m:val="p"/>
                    </m:rPr>
                    <a:rPr lang="ru-RU" sz="1800" i="0" b="0">
                      <a:solidFill>
                        <a:srgbClr val="182B3B"/>
                      </a:solidFill>
                      <a:latin typeface="Cambria Math"/>
                      <a:ea typeface="Cambria Math"/>
                      <a:cs typeface="Cambria Math"/>
                    </a:rPr>
                    <m:t xml:space="preserve">, </m:t>
                  </m:r>
                  <m:r>
                    <m:rPr>
                      <m:sty m:val="i"/>
                    </m:rPr>
                    <a:rPr lang="ru-RU" sz="1800" i="1" b="0">
                      <a:solidFill>
                        <a:srgbClr val="182B3B"/>
                      </a:solidFill>
                      <a:latin typeface="Cambria Math"/>
                      <a:ea typeface="Cambria Math"/>
                      <a:cs typeface="Cambria Math"/>
                    </a:rPr>
                    <m:t xml:space="preserve">L</m:t>
                  </m:r>
                </m:oMath>
              </m:oMathPara>
            </a14:m>
            <a:endParaRPr lang="ru-RU"/>
          </a:p>
        </p:txBody>
      </p:sp>
      <p:sp>
        <p:nvSpPr>
          <p:cNvPr id="13" name="">
            <a:extLst xmlns:a="http://schemas.openxmlformats.org/drawingml/2006/main">
              <a:ext uri="{FF2B5EF4-FFF2-40B4-BE49-F238E27FC236}">
                <a16:creationId xmlns:a16="http://schemas.microsoft.com/office/drawing/2014/main" id="{2595787B-24FD-4FF4-85F2-ADF717AE1F65}"/>
              </a:ext>
            </a:extLst>
          </p:cNvPr>
          <p:cNvSpPr>
            <a:spLocks xmlns:a="http://schemas.openxmlformats.org/drawingml/2006/main" noGrp="1"/>
          </p:cNvSpPr>
          <p:nvPr/>
        </p:nvSpPr>
        <p:spPr>
          <a:xfrm>
            <a:off x="3381375" y="4848225"/>
            <a:ext cx="81248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полная стоимость агента и потеря качества</a:t>
            </a:r>
          </a:p>
        </p:txBody>
      </p:sp>
      <p:sp>
        <p:nvSpPr>
          <p:cNvPr id="14" name="">
            <a:extLst xmlns:a="http://schemas.openxmlformats.org/drawingml/2006/main">
              <a:ext uri="{FF2B5EF4-FFF2-40B4-BE49-F238E27FC236}">
                <a16:creationId xmlns:a16="http://schemas.microsoft.com/office/drawing/2014/main" id="{CDC29F59-5250-429A-9242-F569FCA027F3}"/>
              </a:ext>
            </a:extLst>
          </p:cNvPr>
          <p:cNvSpPr>
            <a:spLocks xmlns:a="http://schemas.openxmlformats.org/drawingml/2006/main" noGrp="1"/>
          </p:cNvSpPr>
          <p:nvPr/>
        </p:nvSpPr>
        <p:spPr>
          <a:xfrm>
            <a:off x="685800" y="5200650"/>
            <a:ext cx="25241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sSub>
                    <m:sSubPr>
                      <m:ctrlPr>
                        <a:rPr lang="ru-RU" sz="1800" i="0" b="0">
                          <a:solidFill>
                            <a:srgbClr val="182B3B"/>
                          </a:solidFill>
                          <a:latin typeface="Cambria Math"/>
                          <a:ea typeface="Cambria Math"/>
                          <a:cs typeface="Cambria Math"/>
                        </a:rPr>
                      </m:ctrlPr>
                    </m:sSubPr>
                    <m:e>
                      <m:r>
                        <m:rPr>
                          <m:sty m:val="i"/>
                        </m:rPr>
                        <a:rPr lang="ru-RU" sz="1800" i="1" b="0">
                          <a:solidFill>
                            <a:srgbClr val="182B3B"/>
                          </a:solidFill>
                          <a:latin typeface="Cambria Math"/>
                          <a:ea typeface="Cambria Math"/>
                          <a:cs typeface="Cambria Math"/>
                        </a:rPr>
                        <m:t xml:space="preserve">π</m:t>
                      </m:r>
                    </m:e>
                    <m:sub>
                      <m:r>
                        <m:rPr>
                          <m:sty m:val="p"/>
                        </m:rPr>
                        <a:rPr lang="ru-RU" sz="1800" i="0" b="0">
                          <a:solidFill>
                            <a:srgbClr val="182B3B"/>
                          </a:solidFill>
                          <a:latin typeface="Cambria Math"/>
                          <a:ea typeface="Cambria Math"/>
                          <a:cs typeface="Cambria Math"/>
                        </a:rPr>
                        <m:t xml:space="preserve">0</m:t>
                      </m:r>
                    </m:sub>
                  </m:sSub>
                  <m:r>
                    <m:rPr>
                      <m:sty m:val="p"/>
                    </m:rPr>
                    <a:rPr lang="ru-RU" sz="1800" i="0" b="0">
                      <a:solidFill>
                        <a:srgbClr val="182B3B"/>
                      </a:solidFill>
                      <a:latin typeface="Cambria Math"/>
                      <a:ea typeface="Cambria Math"/>
                      <a:cs typeface="Cambria Math"/>
                    </a:rPr>
                    <m:t xml:space="preserve">, </m:t>
                  </m:r>
                  <m:r>
                    <m:rPr>
                      <m:sty m:val="i"/>
                    </m:rPr>
                    <a:rPr lang="ru-RU" sz="1800" i="1" b="0">
                      <a:solidFill>
                        <a:srgbClr val="182B3B"/>
                      </a:solidFill>
                      <a:latin typeface="Cambria Math"/>
                      <a:ea typeface="Cambria Math"/>
                      <a:cs typeface="Cambria Math"/>
                    </a:rPr>
                    <m:t xml:space="preserve">ε</m:t>
                  </m:r>
                </m:oMath>
              </m:oMathPara>
            </a14:m>
            <a:endParaRPr lang="ru-RU" sz="1800"/>
          </a:p>
        </p:txBody>
      </p:sp>
      <p:sp>
        <p:nvSpPr>
          <p:cNvPr id="15" name="">
            <a:extLst xmlns:a="http://schemas.openxmlformats.org/drawingml/2006/main">
              <a:ext uri="{FF2B5EF4-FFF2-40B4-BE49-F238E27FC236}">
                <a16:creationId xmlns:a16="http://schemas.microsoft.com/office/drawing/2014/main" id="{3C7E940D-7788-4C64-8855-407492D031FD}"/>
              </a:ext>
            </a:extLst>
          </p:cNvPr>
          <p:cNvSpPr>
            <a:spLocks xmlns:a="http://schemas.openxmlformats.org/drawingml/2006/main" noGrp="1"/>
          </p:cNvSpPr>
          <p:nvPr/>
        </p:nvSpPr>
        <p:spPr>
          <a:xfrm>
            <a:off x="3381375" y="5200650"/>
            <a:ext cx="8124825" cy="3429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0" b="0">
                <a:solidFill>
                  <a:srgbClr val="182B3B"/>
                </a:solidFill>
                <a:latin typeface="DejaVu Sans"/>
                <a:ea typeface="DejaVu Sans"/>
                <a:cs typeface="DejaVu Sans"/>
              </a:rPr>
              <a:t xml:space="preserve">исходное правило и допуск </a:t>
            </a:r>
            <a:r>
              <a:rPr lang="ru-RU" sz="1800" i="1" b="0">
                <a:solidFill>
                  <a:srgbClr val="182B3B"/>
                </a:solidFill>
                <a:latin typeface="Cambria Math"/>
                <a:ea typeface="Cambria Math"/>
                <a:cs typeface="Cambria Math"/>
              </a:rPr>
              <a:t xml:space="preserve">ε</a:t>
            </a:r>
            <a:r>
              <a:rPr lang="ru-RU" sz="1800" i="0" b="0">
                <a:solidFill>
                  <a:srgbClr val="182B3B"/>
                </a:solidFill>
                <a:latin typeface="Cambria Math"/>
                <a:ea typeface="Cambria Math"/>
                <a:cs typeface="Cambria Math"/>
              </a:rPr>
              <a:t xml:space="preserve"> ≥ 0</a:t>
            </a:r>
          </a:p>
        </p:txBody>
      </p:sp>
      <p:sp>
        <p:nvSpPr>
          <p:cNvPr id="16" name="">
            <a:extLst xmlns:a="http://schemas.openxmlformats.org/drawingml/2006/main">
              <a:ext uri="{FF2B5EF4-FFF2-40B4-BE49-F238E27FC236}">
                <a16:creationId xmlns:a16="http://schemas.microsoft.com/office/drawing/2014/main" id="{A81D02DA-3916-4631-9374-F7641009424E}"/>
              </a:ext>
            </a:extLst>
          </p:cNvPr>
          <p:cNvSpPr>
            <a:spLocks xmlns:a="http://schemas.openxmlformats.org/drawingml/2006/main" noGrp="1"/>
          </p:cNvSpPr>
          <p:nvPr/>
        </p:nvSpPr>
        <p:spPr>
          <a:xfrm>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700" i="0" b="0">
                <a:solidFill>
                  <a:srgbClr val="182B3B"/>
                </a:solidFill>
                <a:latin typeface="DejaVu Sans"/>
                <a:ea typeface="DejaVu Sans"/>
                <a:cs typeface="DejaVu Sans"/>
              </a:rPr>
              <a:t xml:space="preserve">Ожидание — по обращениям и случайности прогона. Допуск </a:t>
            </a:r>
            <a:r>
              <a:rPr lang="ru-RU" sz="1700" i="1" b="0">
                <a:solidFill>
                  <a:srgbClr val="182B3B"/>
                </a:solidFill>
                <a:latin typeface="Cambria Math"/>
                <a:ea typeface="Cambria Math"/>
                <a:cs typeface="Cambria Math"/>
              </a:rPr>
              <a:t xml:space="preserve">ε</a:t>
            </a:r>
            <a:r>
              <a:rPr lang="ru-RU" sz="1700" i="0" b="0">
                <a:solidFill>
                  <a:srgbClr val="182B3B"/>
                </a:solidFill>
                <a:latin typeface="DejaVu Sans"/>
                <a:ea typeface="DejaVu Sans"/>
                <a:cs typeface="DejaVu Sans"/>
              </a:rPr>
              <a:t xml:space="preserve"> задаём до теста</a:t>
            </a:r>
          </a:p>
        </p:txBody>
      </p:sp>
      <p:sp>
        <p:nvSpPr>
          <p:cNvPr id="17" name="">
            <a:extLst xmlns:a="http://schemas.openxmlformats.org/drawingml/2006/main">
              <a:ext uri="{FF2B5EF4-FFF2-40B4-BE49-F238E27FC236}">
                <a16:creationId xmlns:a16="http://schemas.microsoft.com/office/drawing/2014/main" id="{E3E629A1-EA86-4650-9559-ABDBB5A434FF}"/>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06</a:t>
            </a:r>
          </a:p>
        </p:txBody>
      </p:sp>
    </p:spTree>
    <p:extLst>
      <p:ext uri="{BB962C8B-B14F-4D97-AF65-F5344CB8AC3E}">
        <p14:creationId xmlns:p14="http://schemas.microsoft.com/office/powerpoint/2010/main" val="202396017"/>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926511-208B-4220-BB66-D6F2C954EBE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 использовать вероятности модели</a:t>
            </a:r>
          </a:p>
        </p:txBody>
      </p:sp>
      <p:sp>
        <p:nvSpPr>
          <p:cNvPr id="2" name="">
            <a:extLst xmlns:a="http://schemas.openxmlformats.org/drawingml/2006/main">
              <a:ext uri="{FF2B5EF4-FFF2-40B4-BE49-F238E27FC236}">
                <a16:creationId xmlns:a16="http://schemas.microsoft.com/office/drawing/2014/main" id="{03B1FEA1-F323-4ADF-B6E2-626768EA85D0}"/>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Оценка вариантов</a:t>
            </a:r>
          </a:p>
        </p:txBody>
      </p:sp>
      <p:sp>
        <p:nvSpPr>
          <p:cNvPr id="3" name="">
            <a:extLst xmlns:a="http://schemas.openxmlformats.org/drawingml/2006/main">
              <a:ext uri="{FF2B5EF4-FFF2-40B4-BE49-F238E27FC236}">
                <a16:creationId xmlns:a16="http://schemas.microsoft.com/office/drawing/2014/main" id="{5CAD7B1E-6006-49AE-B724-FAAB274175B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Модель оценивает допустимые действия и возвращает распределение по вариантам</a:t>
            </a:r>
          </a:p>
        </p:txBody>
      </p:sp>
      <p:sp>
        <p:nvSpPr>
          <p:cNvPr id="4" name="">
            <a:extLst xmlns:a="http://schemas.openxmlformats.org/drawingml/2006/main">
              <a:ext uri="{FF2B5EF4-FFF2-40B4-BE49-F238E27FC236}">
                <a16:creationId xmlns:a16="http://schemas.microsoft.com/office/drawing/2014/main" id="{4DAC8675-FDD2-4864-9E4D-188DB8353A17}"/>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Уверенный выбор</a:t>
            </a:r>
          </a:p>
        </p:txBody>
      </p:sp>
      <p:sp>
        <p:nvSpPr>
          <p:cNvPr id="5" name="">
            <a:extLst xmlns:a="http://schemas.openxmlformats.org/drawingml/2006/main">
              <a:ext uri="{FF2B5EF4-FFF2-40B4-BE49-F238E27FC236}">
                <a16:creationId xmlns:a16="http://schemas.microsoft.com/office/drawing/2014/main" id="{71D0B294-08E2-4137-B447-CECE9A66E7DB}"/>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Используем выбранное действие, если проверенная оценка проходит порог</a:t>
            </a:r>
          </a:p>
        </p:txBody>
      </p:sp>
      <p:sp>
        <p:nvSpPr>
          <p:cNvPr id="6" name="">
            <a:extLst xmlns:a="http://schemas.openxmlformats.org/drawingml/2006/main">
              <a:ext uri="{FF2B5EF4-FFF2-40B4-BE49-F238E27FC236}">
                <a16:creationId xmlns:a16="http://schemas.microsoft.com/office/drawing/2014/main" id="{0D69B872-91C5-402A-A759-E54D5FAEF4E9}"/>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Неуверенный выбор</a:t>
            </a:r>
          </a:p>
        </p:txBody>
      </p:sp>
      <p:sp>
        <p:nvSpPr>
          <p:cNvPr id="7" name="">
            <a:extLst xmlns:a="http://schemas.openxmlformats.org/drawingml/2006/main">
              <a:ext uri="{FF2B5EF4-FFF2-40B4-BE49-F238E27FC236}">
                <a16:creationId xmlns:a16="http://schemas.microsoft.com/office/drawing/2014/main" id="{4CD0D594-C1CA-4D76-A909-3F99C2E6F3C0}"/>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При низкой оценке или сбое тот же выбор делает исходная языковая модель</a:t>
            </a:r>
          </a:p>
        </p:txBody>
      </p:sp>
      <p:sp>
        <p:nvSpPr>
          <p:cNvPr id="8" name="">
            <a:extLst xmlns:a="http://schemas.openxmlformats.org/drawingml/2006/main">
              <a:ext uri="{FF2B5EF4-FFF2-40B4-BE49-F238E27FC236}">
                <a16:creationId xmlns:a16="http://schemas.microsoft.com/office/drawing/2014/main" id="{47790F9D-C939-481D-BBBC-0FA46705C8C5}"/>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Исследуемый параметр</a:t>
            </a:r>
          </a:p>
        </p:txBody>
      </p:sp>
      <p:sp>
        <p:nvSpPr>
          <p:cNvPr id="9" name="">
            <a:extLst xmlns:a="http://schemas.openxmlformats.org/drawingml/2006/main">
              <a:ext uri="{FF2B5EF4-FFF2-40B4-BE49-F238E27FC236}">
                <a16:creationId xmlns:a16="http://schemas.microsoft.com/office/drawing/2014/main" id="{9A4E3104-0829-4A61-93A3-4AA659E41FB4}"/>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Порог, доля передач в LLM, ошибки и полная стоимость обращения</a:t>
            </a:r>
          </a:p>
        </p:txBody>
      </p:sp>
      <p:sp>
        <p:nvSpPr>
          <p:cNvPr id="10" name="">
            <a:extLst xmlns:a="http://schemas.openxmlformats.org/drawingml/2006/main">
              <a:ext uri="{FF2B5EF4-FFF2-40B4-BE49-F238E27FC236}">
                <a16:creationId xmlns:a16="http://schemas.microsoft.com/office/drawing/2014/main" id="{8ED0977A-BF02-4CEE-801D-79097F49267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Порог настраиваем до теста. Уверенность и формат ответа не гарантируют правильность</a:t>
            </a:r>
          </a:p>
        </p:txBody>
      </p:sp>
      <p:sp>
        <p:nvSpPr>
          <p:cNvPr id="11" name="">
            <a:extLst xmlns:a="http://schemas.openxmlformats.org/drawingml/2006/main">
              <a:ext uri="{FF2B5EF4-FFF2-40B4-BE49-F238E27FC236}">
                <a16:creationId xmlns:a16="http://schemas.microsoft.com/office/drawing/2014/main" id="{2E4A9292-4054-4301-9743-989EBCB3817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07</a:t>
            </a:r>
          </a:p>
        </p:txBody>
      </p:sp>
    </p:spTree>
    <p:extLst>
      <p:ext uri="{BB962C8B-B14F-4D97-AF65-F5344CB8AC3E}">
        <p14:creationId xmlns:p14="http://schemas.microsoft.com/office/powerpoint/2010/main" val="601878613"/>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15FD68-C345-43E7-ACEC-3D92DAAECF1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Предлагаемый стенд: τ-knowledge</a:t>
            </a:r>
          </a:p>
        </p:txBody>
      </p:sp>
      <p:sp>
        <p:nvSpPr>
          <p:cNvPr id="2" name="">
            <a:extLst xmlns:a="http://schemas.openxmlformats.org/drawingml/2006/main">
              <a:ext uri="{FF2B5EF4-FFF2-40B4-BE49-F238E27FC236}">
                <a16:creationId xmlns:a16="http://schemas.microsoft.com/office/drawing/2014/main" id="{70DC59B7-451C-463A-8792-370D9FE5C053}"/>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82B3B"/>
                </a:solidFill>
                <a:latin typeface="DejaVu Sans"/>
                <a:ea typeface="DejaVu Sans"/>
                <a:cs typeface="DejaVu Sans"/>
              </a:defRPr>
            </a:defPPr>
          </a:lstStyle>
          <a:p xmlns:a="http://schemas.openxmlformats.org/drawingml/2006/main">
            <a:pPr>
              <a:defRPr sz="2100" b="1">
                <a:solidFill>
                  <a:srgbClr val="182B3B"/>
                </a:solidFill>
                <a:latin typeface="DejaVu Sans"/>
                <a:ea typeface="DejaVu Sans"/>
                <a:cs typeface="DejaVu Sans"/>
              </a:defRPr>
            </a:pPr>
            <a:r>
              <a:rPr sz="2100" b="1">
                <a:solidFill>
                  <a:srgbClr val="182B3B"/>
                </a:solidFill>
                <a:latin typeface="DejaVu Sans"/>
                <a:ea typeface="DejaVu Sans"/>
                <a:cs typeface="DejaVu Sans"/>
              </a:rPr>
              <a:t>Банковские задачи</a:t>
            </a:r>
          </a:p>
        </p:txBody>
      </p:sp>
      <p:sp>
        <p:nvSpPr>
          <p:cNvPr id="3" name="">
            <a:extLst xmlns:a="http://schemas.openxmlformats.org/drawingml/2006/main">
              <a:ext uri="{FF2B5EF4-FFF2-40B4-BE49-F238E27FC236}">
                <a16:creationId xmlns:a16="http://schemas.microsoft.com/office/drawing/2014/main" id="{8E40F3D1-F2E7-4A80-AE40-926756D86350}"/>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82B3B"/>
                </a:solidFill>
                <a:latin typeface="DejaVu Sans"/>
                <a:ea typeface="DejaVu Sans"/>
                <a:cs typeface="DejaVu Sans"/>
              </a:defRPr>
            </a:defPPr>
          </a:lstStyle>
          <a:p xmlns:a="http://schemas.openxmlformats.org/drawingml/2006/main">
            <a:pPr>
              <a:defRPr sz="2100" b="1">
                <a:solidFill>
                  <a:srgbClr val="182B3B"/>
                </a:solidFill>
                <a:latin typeface="DejaVu Sans"/>
                <a:ea typeface="DejaVu Sans"/>
                <a:cs typeface="DejaVu Sans"/>
              </a:defRPr>
            </a:pPr>
            <a:r>
              <a:rPr sz="2100" b="1">
                <a:solidFill>
                  <a:srgbClr val="182B3B"/>
                </a:solidFill>
                <a:latin typeface="DejaVu Sans"/>
                <a:ea typeface="DejaVu Sans"/>
                <a:cs typeface="DejaVu Sans"/>
              </a:rPr>
              <a:t>Проверка результата</a:t>
            </a:r>
          </a:p>
        </p:txBody>
      </p:sp>
      <p:sp>
        <p:nvSpPr>
          <p:cNvPr id="4" name="">
            <a:extLst xmlns:a="http://schemas.openxmlformats.org/drawingml/2006/main">
              <a:ext uri="{FF2B5EF4-FFF2-40B4-BE49-F238E27FC236}">
                <a16:creationId xmlns:a16="http://schemas.microsoft.com/office/drawing/2014/main" id="{7CE29C07-97A3-4D55-8DDC-5096CF41F1BA}"/>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Диалог с симулированным</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пользователем</a:t>
            </a:r>
          </a:p>
        </p:txBody>
      </p:sp>
      <p:sp>
        <p:nvSpPr>
          <p:cNvPr id="5" name="">
            <a:extLst xmlns:a="http://schemas.openxmlformats.org/drawingml/2006/main">
              <a:ext uri="{FF2B5EF4-FFF2-40B4-BE49-F238E27FC236}">
                <a16:creationId xmlns:a16="http://schemas.microsoft.com/office/drawing/2014/main" id="{CE7515BC-BCBC-4231-A373-6929669DD423}"/>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База знаний с правилами</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обслуживания</a:t>
            </a:r>
          </a:p>
        </p:txBody>
      </p:sp>
      <p:sp>
        <p:nvSpPr>
          <p:cNvPr id="6" name="">
            <a:extLst xmlns:a="http://schemas.openxmlformats.org/drawingml/2006/main">
              <a:ext uri="{FF2B5EF4-FFF2-40B4-BE49-F238E27FC236}">
                <a16:creationId xmlns:a16="http://schemas.microsoft.com/office/drawing/2014/main" id="{460464EA-C10C-424A-83A7-289B6F3312C6}"/>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Поиск документов и операции</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в тестовой системе</a:t>
            </a:r>
          </a:p>
        </p:txBody>
      </p:sp>
      <p:sp>
        <p:nvSpPr>
          <p:cNvPr id="7" name="">
            <a:extLst xmlns:a="http://schemas.openxmlformats.org/drawingml/2006/main">
              <a:ext uri="{FF2B5EF4-FFF2-40B4-BE49-F238E27FC236}">
                <a16:creationId xmlns:a16="http://schemas.microsoft.com/office/drawing/2014/main" id="{B6049FDE-ABB0-4B72-86D0-35DE3C3B1D3E}"/>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Состояние и действия</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по критериям задачи</a:t>
            </a:r>
          </a:p>
        </p:txBody>
      </p:sp>
      <p:sp>
        <p:nvSpPr>
          <p:cNvPr id="8" name="">
            <a:extLst xmlns:a="http://schemas.openxmlformats.org/drawingml/2006/main">
              <a:ext uri="{FF2B5EF4-FFF2-40B4-BE49-F238E27FC236}">
                <a16:creationId xmlns:a16="http://schemas.microsoft.com/office/drawing/2014/main" id="{85345406-E8D9-41C2-A8D8-5B4A2E4D6C65}"/>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Оценка текстовых условий</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там, где она предусмотрена</a:t>
            </a:r>
          </a:p>
        </p:txBody>
      </p:sp>
      <p:sp>
        <p:nvSpPr>
          <p:cNvPr id="9" name="">
            <a:extLst xmlns:a="http://schemas.openxmlformats.org/drawingml/2006/main">
              <a:ext uri="{FF2B5EF4-FFF2-40B4-BE49-F238E27FC236}">
                <a16:creationId xmlns:a16="http://schemas.microsoft.com/office/drawing/2014/main" id="{DF0142B3-A8E3-4337-9861-4F97075B9912}"/>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Успех, затраты и время</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каждого полного диалога</a:t>
            </a:r>
          </a:p>
        </p:txBody>
      </p:sp>
      <p:sp>
        <p:nvSpPr>
          <p:cNvPr id="10" name="">
            <a:extLst xmlns:a="http://schemas.openxmlformats.org/drawingml/2006/main">
              <a:ext uri="{FF2B5EF4-FFF2-40B4-BE49-F238E27FC236}">
                <a16:creationId xmlns:a16="http://schemas.microsoft.com/office/drawing/2014/main" id="{3E19E53D-543D-4C36-8E5F-6F52334525A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До выбора: открытый симулятор и оценщик, исходный агент и бюджет</a:t>
            </a:r>
          </a:p>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Retail — отладка; HotpotQA — вспомогательная проверка контекста</a:t>
            </a:r>
          </a:p>
        </p:txBody>
      </p:sp>
      <p:sp>
        <p:nvSpPr>
          <p:cNvPr id="11" name="">
            <a:extLst xmlns:a="http://schemas.openxmlformats.org/drawingml/2006/main">
              <a:ext uri="{FF2B5EF4-FFF2-40B4-BE49-F238E27FC236}">
                <a16:creationId xmlns:a16="http://schemas.microsoft.com/office/drawing/2014/main" id="{B94819DB-35FE-481A-93EC-70300616EDB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08</a:t>
            </a:r>
          </a:p>
        </p:txBody>
      </p:sp>
    </p:spTree>
    <p:extLst>
      <p:ext uri="{BB962C8B-B14F-4D97-AF65-F5344CB8AC3E}">
        <p14:creationId xmlns:p14="http://schemas.microsoft.com/office/powerpoint/2010/main" val="1465055472"/>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165DAB-1F09-4650-9880-8BF17813E71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Какие способы решения сравним</a:t>
            </a:r>
          </a:p>
        </p:txBody>
      </p:sp>
      <p:graphicFrame>
        <p:nvGraphicFramePr>
          <p:cNvPr id="2" name="">
            <a:extLst xmlns:a="http://schemas.openxmlformats.org/drawingml/2006/main">
              <a:ext uri="{FF2B5EF4-FFF2-40B4-BE49-F238E27FC236}">
                <a16:creationId xmlns:a16="http://schemas.microsoft.com/office/drawing/2014/main" id="{EC38E672-A716-48A4-9136-238DD76CD551}"/>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3048000"/>
                <a:gridCol w="7772400"/>
              </a:tblGrid>
              <a:tr h="552450">
                <a:tc>
                  <a:txBody>
                    <a:bodyPr>
                      <a:noAutofit/>
                    </a:bodyPr>
                    <a:lstStyle/>
                    <a:p>
                      <a:r>
                        <a:rPr sz="1800" b="1">
                          <a:solidFill>
                            <a:srgbClr val="FFFFFF"/>
                          </a:solidFill>
                          <a:latin typeface="DejaVu Sans"/>
                          <a:ea typeface="DejaVu Sans"/>
                          <a:cs typeface="DejaVu Sans"/>
                        </a:rPr>
                        <a:t>Способ</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Роль в сравнении</a:t>
                      </a:r>
                    </a:p>
                  </a:txBody>
                  <a:tcPr marL="133350" marR="133350" marT="95250" marB="95250" anchor="ctr">
                    <a:solidFill>
                      <a:srgbClr val="182B3B"/>
                    </a:solidFill>
                  </a:tcPr>
                </a:tc>
              </a:tr>
              <a:tr h="790575">
                <a:tc>
                  <a:txBody>
                    <a:bodyPr>
                      <a:noAutofit/>
                    </a:bodyPr>
                    <a:lstStyle/>
                    <a:p>
                      <a:r>
                        <a:rPr sz="1800" b="1">
                          <a:solidFill>
                            <a:srgbClr val="182B3B"/>
                          </a:solidFill>
                          <a:latin typeface="DejaVu Sans"/>
                          <a:ea typeface="DejaVu Sans"/>
                          <a:cs typeface="DejaVu Sans"/>
                        </a:rPr>
                        <a:t>Исходная LLM</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Исходный агент и контроль выбора действия</a:t>
                      </a:r>
                    </a:p>
                    <a:p>
                      <a:r>
                        <a:rPr sz="1800" b="0">
                          <a:solidFill>
                            <a:srgbClr val="182B3B"/>
                          </a:solidFill>
                          <a:latin typeface="DejaVu Sans"/>
                          <a:ea typeface="DejaVu Sans"/>
                          <a:cs typeface="DejaVu Sans"/>
                        </a:rPr>
                        <a:t>Для инструментов отдельно проверяем LLM-селектор</a:t>
                      </a:r>
                    </a:p>
                  </a:txBody>
                  <a:tcPr marL="133350" marR="133350" marT="95250" marB="95250" anchor="ctr">
                    <a:solidFill>
                      <a:srgbClr val="F4F1EA"/>
                    </a:solidFill>
                  </a:tcPr>
                </a:tc>
              </a:tr>
              <a:tr h="790575">
                <a:tc>
                  <a:txBody>
                    <a:bodyPr>
                      <a:noAutofit/>
                    </a:bodyPr>
                    <a:lstStyle/>
                    <a:p>
                      <a:r>
                        <a:rPr sz="1800" b="1">
                          <a:solidFill>
                            <a:srgbClr val="182B3B"/>
                          </a:solidFill>
                          <a:latin typeface="DejaVu Sans"/>
                          <a:ea typeface="DejaVu Sans"/>
                          <a:cs typeface="DejaVu Sans"/>
                        </a:rPr>
                        <a:t>Дешёвый контроль</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Правила или классификатор для выбора действия</a:t>
                      </a:r>
                    </a:p>
                    <a:p>
                      <a:r>
                        <a:rPr sz="1800" b="0">
                          <a:solidFill>
                            <a:srgbClr val="182B3B"/>
                          </a:solidFill>
                          <a:latin typeface="DejaVu Sans"/>
                          <a:ea typeface="DejaVu Sans"/>
                          <a:cs typeface="DejaVu Sans"/>
                        </a:rPr>
                        <a:t>Модель ранжирования для отбора документов</a:t>
                      </a:r>
                    </a:p>
                  </a:txBody>
                  <a:tcPr marL="133350" marR="133350" marT="95250" marB="95250" anchor="ctr">
                    <a:solidFill>
                      <a:srgbClr val="F4F1EA"/>
                    </a:solidFill>
                  </a:tcPr>
                </a:tc>
              </a:tr>
              <a:tr h="790575">
                <a:tc>
                  <a:txBody>
                    <a:bodyPr>
                      <a:noAutofit/>
                    </a:bodyPr>
                    <a:lstStyle/>
                    <a:p>
                      <a:r>
                        <a:rPr sz="1800" b="1">
                          <a:solidFill>
                            <a:srgbClr val="182B3B"/>
                          </a:solidFill>
                          <a:latin typeface="DejaVu Sans"/>
                          <a:ea typeface="DejaVu Sans"/>
                          <a:cs typeface="DejaVu Sans"/>
                        </a:rPr>
                        <a:t>KEV-0.8B / 4B</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Кандидаты для узкого решения в τ-knowledge</a:t>
                      </a:r>
                    </a:p>
                    <a:p>
                      <a:r>
                        <a:rPr sz="1800" b="0">
                          <a:solidFill>
                            <a:srgbClr val="182B3B"/>
                          </a:solidFill>
                          <a:latin typeface="DejaVu Sans"/>
                          <a:ea typeface="DejaVu Sans"/>
                          <a:cs typeface="DejaVu Sans"/>
                        </a:rPr>
                        <a:t>Готовая 0.8B не рекомендована для выбора инструментов</a:t>
                      </a:r>
                    </a:p>
                  </a:txBody>
                  <a:tcPr marL="133350" marR="133350" marT="95250" marB="95250" anchor="ctr">
                    <a:solidFill>
                      <a:srgbClr val="F4F1EA"/>
                    </a:solidFill>
                  </a:tcPr>
                </a:tc>
              </a:tr>
              <a:tr h="790575">
                <a:tc>
                  <a:txBody>
                    <a:bodyPr>
                      <a:noAutofit/>
                    </a:bodyPr>
                    <a:lstStyle/>
                    <a:p>
                      <a:r>
                        <a:rPr sz="1800" b="1">
                          <a:solidFill>
                            <a:srgbClr val="182B3B"/>
                          </a:solidFill>
                          <a:latin typeface="DejaVu Sans"/>
                          <a:ea typeface="DejaVu Sans"/>
                          <a:cs typeface="DejaVu Sans"/>
                        </a:rPr>
                        <a:t>Laya English</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Кандидат для компактного опыта с контекстом в HotpotQA</a:t>
                      </a:r>
                    </a:p>
                    <a:p>
                      <a:r>
                        <a:rPr sz="1800" b="0">
                          <a:solidFill>
                            <a:srgbClr val="182B3B"/>
                          </a:solidFill>
                          <a:latin typeface="DejaVu Sans"/>
                          <a:ea typeface="DejaVu Sans"/>
                          <a:cs typeface="DejaVu Sans"/>
                        </a:rPr>
                        <a:t>Полный вход до 512 токенов, включая вопрос и варианты</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64348726-2B42-47C6-A9DF-166F5F0AD21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Пригодность моделей, калибровку и экономию проверяем на наших задачах</a:t>
            </a:r>
          </a:p>
        </p:txBody>
      </p:sp>
      <p:sp>
        <p:nvSpPr>
          <p:cNvPr id="4" name="">
            <a:extLst xmlns:a="http://schemas.openxmlformats.org/drawingml/2006/main">
              <a:ext uri="{FF2B5EF4-FFF2-40B4-BE49-F238E27FC236}">
                <a16:creationId xmlns:a16="http://schemas.microsoft.com/office/drawing/2014/main" id="{CC281044-E885-40F8-89E9-C7E4FF6ABB5B}"/>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09</a:t>
            </a:r>
          </a:p>
        </p:txBody>
      </p:sp>
    </p:spTree>
    <p:extLst>
      <p:ext uri="{BB962C8B-B14F-4D97-AF65-F5344CB8AC3E}">
        <p14:creationId xmlns:p14="http://schemas.microsoft.com/office/powerpoint/2010/main" val="311920844"/>
      </p:ext>
    </p:extLst>
  </p:cSld>
</p:sld>
</file>

<file path=ppt/slides/slide10.xml><?xml version="1.0" encoding="utf-8"?>
<p:sld xmlns:a="http://schemas.openxmlformats.org/drawingml/2006/main"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477CD4-7624-4926-A0A6-742ADF9D1B9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Качество, стоимость и время работы</a:t>
            </a:r>
          </a:p>
        </p:txBody>
      </p:sp>
      <p:graphicFrame>
        <p:nvGraphicFramePr>
          <p:cNvPr id="2" name="">
            <a:extLst xmlns:a="http://schemas.openxmlformats.org/drawingml/2006/main">
              <a:ext uri="{FF2B5EF4-FFF2-40B4-BE49-F238E27FC236}">
                <a16:creationId xmlns:a16="http://schemas.microsoft.com/office/drawing/2014/main" id="{27461F31-B1FB-416A-97B9-2AEB5822695B}"/>
              </a:ext>
            </a:extLst>
          </p:cNvPr>
          <p:cNvGraphicFramePr/>
          <p:nvPr/>
        </p:nvGraphicFramePr>
        <p:xfrm>
          <a:off xmlns:a="http://schemas.openxmlformats.org/drawingml/2006/main" x="685800" y="1533525"/>
          <a:ext xmlns:a="http://schemas.openxmlformats.org/drawingml/2006/main" cx="10820400" cy="3524250"/>
        </p:xfrm>
        <a:graphic xmlns:a="http://schemas.openxmlformats.org/drawingml/2006/main">
          <a:graphicData uri="http://schemas.openxmlformats.org/drawingml/2006/table">
            <a:tbl>
              <a:tblPr/>
              <a:tblGrid>
                <a:gridCol w="1752600"/>
                <a:gridCol w="6153150"/>
                <a:gridCol w="2914650"/>
              </a:tblGrid>
              <a:tr h="514350">
                <a:tc>
                  <a:txBody>
                    <a:bodyPr>
                      <a:noAutofit/>
                    </a:bodyPr>
                    <a:lstStyle/>
                    <a:p>
                      <a:r>
                        <a:rPr sz="1800" b="1">
                          <a:solidFill>
                            <a:srgbClr val="FFFFFF"/>
                          </a:solidFill>
                          <a:latin typeface="DejaVu Sans"/>
                          <a:ea typeface="DejaVu Sans"/>
                          <a:cs typeface="DejaVu Sans"/>
                        </a:rPr>
                        <a:t>Уровень</a:t>
                      </a:r>
                    </a:p>
                  </a:txBody>
                  <a:tcPr marL="57150" marR="57150" marT="57150" marB="57150" anchor="ctr">
                    <a:solidFill>
                      <a:srgbClr val="182B3B"/>
                    </a:solidFill>
                  </a:tcPr>
                </a:tc>
                <a:tc>
                  <a:txBody>
                    <a:bodyPr>
                      <a:noAutofit/>
                    </a:bodyPr>
                    <a:lstStyle/>
                    <a:p>
                      <a:r>
                        <a:rPr sz="1800" b="1">
                          <a:solidFill>
                            <a:srgbClr val="FFFFFF"/>
                          </a:solidFill>
                          <a:latin typeface="DejaVu Sans"/>
                          <a:ea typeface="DejaVu Sans"/>
                          <a:cs typeface="DejaVu Sans"/>
                        </a:rPr>
                        <a:t>Что учитываем</a:t>
                      </a:r>
                    </a:p>
                  </a:txBody>
                  <a:tcPr marL="57150" marR="57150" marT="57150" marB="57150" anchor="ctr">
                    <a:solidFill>
                      <a:srgbClr val="182B3B"/>
                    </a:solidFill>
                  </a:tcPr>
                </a:tc>
                <a:tc>
                  <a:txBody>
                    <a:bodyPr>
                      <a:noAutofit/>
                    </a:bodyPr>
                    <a:lstStyle/>
                    <a:p>
                      <a:r>
                        <a:rPr sz="1800" b="1">
                          <a:solidFill>
                            <a:srgbClr val="FFFFFF"/>
                          </a:solidFill>
                          <a:latin typeface="DejaVu Sans"/>
                          <a:ea typeface="DejaVu Sans"/>
                          <a:cs typeface="DejaVu Sans"/>
                        </a:rPr>
                        <a:t>Что показываем</a:t>
                      </a:r>
                    </a:p>
                  </a:txBody>
                  <a:tcPr marL="57150" marR="57150" marT="57150" marB="57150" anchor="ctr">
                    <a:solidFill>
                      <a:srgbClr val="182B3B"/>
                    </a:solidFill>
                  </a:tcPr>
                </a:tc>
              </a:tr>
              <a:tr h="685800">
                <a:tc>
                  <a:txBody>
                    <a:bodyPr>
                      <a:noAutofit/>
                    </a:bodyPr>
                    <a:lstStyle/>
                    <a:p>
                      <a:r>
                        <a:rPr sz="1800" b="1">
                          <a:solidFill>
                            <a:srgbClr val="182B3B"/>
                          </a:solidFill>
                          <a:latin typeface="DejaVu Sans"/>
                          <a:ea typeface="DejaVu Sans"/>
                          <a:cs typeface="DejaVu Sans"/>
                        </a:rPr>
                        <a:t>Агент</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Успех задачи и типы ошибок</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Доля успехов</a:t>
                      </a:r>
                    </a:p>
                    <a:p>
                      <a:r>
                        <a:rPr sz="1800" b="0">
                          <a:solidFill>
                            <a:srgbClr val="182B3B"/>
                          </a:solidFill>
                          <a:latin typeface="DejaVu Sans"/>
                          <a:ea typeface="DejaVu Sans"/>
                          <a:cs typeface="DejaVu Sans"/>
                        </a:rPr>
                        <a:t>и интервалы</a:t>
                      </a:r>
                    </a:p>
                  </a:txBody>
                  <a:tcPr marL="57150" marR="57150" marT="57150" marB="57150" anchor="ctr">
                    <a:solidFill>
                      <a:srgbClr val="F4F1EA"/>
                    </a:solidFill>
                  </a:tcPr>
                </a:tc>
              </a:tr>
              <a:tr h="685800">
                <a:tc>
                  <a:txBody>
                    <a:bodyPr>
                      <a:noAutofit/>
                    </a:bodyPr>
                    <a:lstStyle/>
                    <a:p>
                      <a:r>
                        <a:rPr sz="1800" b="1">
                          <a:solidFill>
                            <a:srgbClr val="182B3B"/>
                          </a:solidFill>
                          <a:latin typeface="DejaVu Sans"/>
                          <a:ea typeface="DejaVu Sans"/>
                          <a:cs typeface="DejaVu Sans"/>
                        </a:rPr>
                        <a:t>Узел</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Ошибка выбора, калибровка, передача в LLM</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Ошибка и калибровка</a:t>
                      </a:r>
                    </a:p>
                    <a:p>
                      <a:r>
                        <a:rPr sz="1800" b="0">
                          <a:solidFill>
                            <a:srgbClr val="182B3B"/>
                          </a:solidFill>
                          <a:latin typeface="DejaVu Sans"/>
                          <a:ea typeface="DejaVu Sans"/>
                          <a:cs typeface="DejaVu Sans"/>
                        </a:rPr>
                        <a:t>Доля передач в LLM</a:t>
                      </a:r>
                    </a:p>
                  </a:txBody>
                  <a:tcPr marL="57150" marR="57150" marT="57150" marB="57150" anchor="ctr">
                    <a:solidFill>
                      <a:srgbClr val="F4F1EA"/>
                    </a:solidFill>
                  </a:tcPr>
                </a:tc>
              </a:tr>
              <a:tr h="952500">
                <a:tc>
                  <a:txBody>
                    <a:bodyPr>
                      <a:noAutofit/>
                    </a:bodyPr>
                    <a:lstStyle/>
                    <a:p>
                      <a:r>
                        <a:rPr sz="1800" b="1">
                          <a:solidFill>
                            <a:srgbClr val="182B3B"/>
                          </a:solidFill>
                          <a:latin typeface="DejaVu Sans"/>
                          <a:ea typeface="DejaVu Sans"/>
                          <a:cs typeface="DejaVu Sans"/>
                        </a:rPr>
                        <a:t>Стоимость</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Все вызовы агента, повторы и резервные методы</a:t>
                      </a:r>
                    </a:p>
                    <a:p>
                      <a:r>
                        <a:rPr sz="1800" b="0">
                          <a:solidFill>
                            <a:srgbClr val="182B3B"/>
                          </a:solidFill>
                          <a:latin typeface="DejaVu Sans"/>
                          <a:ea typeface="DejaVu Sans"/>
                          <a:cs typeface="DejaVu Sans"/>
                        </a:rPr>
                        <a:t>Симулятор, оценщик и подготовка — отдельно</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На задачу</a:t>
                      </a:r>
                    </a:p>
                    <a:p>
                      <a:r>
                        <a:rPr sz="1800" b="0">
                          <a:solidFill>
                            <a:srgbClr val="182B3B"/>
                          </a:solidFill>
                          <a:latin typeface="DejaVu Sans"/>
                          <a:ea typeface="DejaVu Sans"/>
                          <a:cs typeface="DejaVu Sans"/>
                        </a:rPr>
                        <a:t>и на успех</a:t>
                      </a:r>
                    </a:p>
                  </a:txBody>
                  <a:tcPr marL="57150" marR="57150" marT="57150" marB="57150" anchor="ctr">
                    <a:solidFill>
                      <a:srgbClr val="F4F1EA"/>
                    </a:solidFill>
                  </a:tcPr>
                </a:tc>
              </a:tr>
              <a:tr h="685800">
                <a:tc>
                  <a:txBody>
                    <a:bodyPr>
                      <a:noAutofit/>
                    </a:bodyPr>
                    <a:lstStyle/>
                    <a:p>
                      <a:r>
                        <a:rPr sz="1800" b="1">
                          <a:solidFill>
                            <a:srgbClr val="182B3B"/>
                          </a:solidFill>
                          <a:latin typeface="DejaVu Sans"/>
                          <a:ea typeface="DejaVu Sans"/>
                          <a:cs typeface="DejaVu Sans"/>
                        </a:rPr>
                        <a:t>Задержка</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Агент и вся симуляция — отдельно</a:t>
                      </a:r>
                    </a:p>
                    <a:p>
                      <a:r>
                        <a:rPr sz="1800" b="0">
                          <a:solidFill>
                            <a:srgbClr val="182B3B"/>
                          </a:solidFill>
                          <a:latin typeface="DejaVu Sans"/>
                          <a:ea typeface="DejaVu Sans"/>
                          <a:cs typeface="DejaVu Sans"/>
                        </a:rPr>
                        <a:t>Загрузка и прогретый режим — отдельно</a:t>
                      </a:r>
                    </a:p>
                  </a:txBody>
                  <a:tcPr marL="57150" marR="57150" marT="57150" marB="57150" anchor="ctr">
                    <a:solidFill>
                      <a:srgbClr val="F4F1EA"/>
                    </a:solidFill>
                  </a:tcPr>
                </a:tc>
                <a:tc>
                  <a:txBody>
                    <a:bodyPr>
                      <a:noAutofit/>
                    </a:bodyPr>
                    <a:lstStyle/>
                    <a:p>
                      <a:r>
                        <a:rPr sz="1800" b="0">
                          <a:solidFill>
                            <a:srgbClr val="182B3B"/>
                          </a:solidFill>
                          <a:latin typeface="DejaVu Sans"/>
                          <a:ea typeface="DejaVu Sans"/>
                          <a:cs typeface="DejaVu Sans"/>
                        </a:rPr>
                        <a:t>p50 и p95</a:t>
                      </a:r>
                    </a:p>
                  </a:txBody>
                  <a:tcPr marL="57150" marR="57150" marT="57150" marB="57150" anchor="ctr">
                    <a:solidFill>
                      <a:srgbClr val="F4F1EA"/>
                    </a:solidFill>
                  </a:tcPr>
                </a:tc>
              </a:tr>
            </a:tbl>
          </a:graphicData>
        </a:graphic>
      </p:graphicFrame>
      <p:sp>
        <p:nvSpPr>
          <p:cNvPr id="3" name="Cost per successful execution; S must be positive">
            <a:extLst xmlns:a="http://schemas.openxmlformats.org/drawingml/2006/main">
              <a:ext uri="{FF2B5EF4-FFF2-40B4-BE49-F238E27FC236}">
                <a16:creationId xmlns:a16="http://schemas.microsoft.com/office/drawing/2014/main" id="{45EF7811-DD27-456F-8C44-73E3A1CCAD6D}"/>
              </a:ext>
            </a:extLst>
          </p:cNvPr>
          <p:cNvSpPr>
            <a:spLocks xmlns:a="http://schemas.openxmlformats.org/drawingml/2006/main" noGrp="1"/>
          </p:cNvSpPr>
          <p:nvPr/>
        </p:nvSpPr>
        <p:spPr>
          <a:xfrm>
            <a:off x="685800" y="5124450"/>
            <a:ext cx="6896100" cy="866775"/>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14:m xmlns:a14="http://schemas.microsoft.com/office/drawing/2010/main">
              <m:oMathPara xmlns:m="http://schemas.openxmlformats.org/officeDocument/2006/math">
                <m:oMathParaPr>
                  <m:jc m:val="left"/>
                </m:oMathParaPr>
                <m:oMath>
                  <m:sSub>
                    <m:sSubPr>
                      <m:ctrlPr>
                        <a:rPr lang="ru-RU" sz="2325" i="0" b="0">
                          <a:solidFill>
                            <a:srgbClr val="182B3B"/>
                          </a:solidFill>
                          <a:latin typeface="Cambria Math"/>
                          <a:ea typeface="Cambria Math"/>
                          <a:cs typeface="Cambria Math"/>
                        </a:rPr>
                      </m:ctrlPr>
                    </m:sSubPr>
                    <m:e>
                      <m:r>
                        <m:rPr>
                          <m:sty m:val="i"/>
                        </m:rPr>
                        <a:rPr lang="ru-RU" sz="2325" i="1" b="0">
                          <a:solidFill>
                            <a:srgbClr val="182B3B"/>
                          </a:solidFill>
                          <a:latin typeface="Cambria Math"/>
                          <a:ea typeface="Cambria Math"/>
                          <a:cs typeface="Cambria Math"/>
                        </a:rPr>
                        <m:t xml:space="preserve">C</m:t>
                      </m:r>
                    </m:e>
                    <m:sub>
                      <m:r>
                        <m:rPr>
                          <m:sty m:val="p"/>
                        </m:rPr>
                        <a:rPr lang="ru-RU" sz="2325" i="0" b="0">
                          <a:solidFill>
                            <a:srgbClr val="182B3B"/>
                          </a:solidFill>
                          <a:latin typeface="Cambria Math"/>
                          <a:ea typeface="Cambria Math"/>
                          <a:cs typeface="Cambria Math"/>
                        </a:rPr>
                        <m:t xml:space="preserve">success</m:t>
                      </m:r>
                    </m:sub>
                  </m:sSub>
                  <m:r>
                    <m:rPr>
                      <m:sty m:val="p"/>
                    </m:rPr>
                    <a:rPr lang="ru-RU" sz="2325" i="0" b="0">
                      <a:solidFill>
                        <a:srgbClr val="182B3B"/>
                      </a:solidFill>
                      <a:latin typeface="Cambria Math"/>
                      <a:ea typeface="Cambria Math"/>
                      <a:cs typeface="Cambria Math"/>
                    </a:rPr>
                    <m:t xml:space="preserve"> = </m:t>
                  </m:r>
                  <m:f>
                    <m:fPr>
                      <m:ctrlPr>
                        <a:rPr lang="ru-RU" sz="2325" i="0" b="0">
                          <a:solidFill>
                            <a:srgbClr val="182B3B"/>
                          </a:solidFill>
                          <a:latin typeface="Cambria Math"/>
                          <a:ea typeface="Cambria Math"/>
                          <a:cs typeface="Cambria Math"/>
                        </a:rPr>
                      </m:ctrlPr>
                    </m:fPr>
                    <m:num>
                      <m:nary>
                        <m:naryPr>
                          <m:chr m:val="∑"/>
                          <m:limLoc m:val="undOvr"/>
                          <m:grow m:val="1"/>
                          <m:ctrlPr>
                            <a:rPr lang="ru-RU" sz="2325" i="0" b="0">
                              <a:solidFill>
                                <a:srgbClr val="182B3B"/>
                              </a:solidFill>
                              <a:latin typeface="Cambria Math"/>
                              <a:ea typeface="Cambria Math"/>
                              <a:cs typeface="Cambria Math"/>
                            </a:rPr>
                          </m:ctrlPr>
                        </m:naryPr>
                        <m:sub>
                          <m:r>
                            <m:rPr>
                              <m:sty m:val="i"/>
                            </m:rPr>
                            <a:rPr lang="ru-RU" sz="2325" i="1" b="0">
                              <a:solidFill>
                                <a:srgbClr val="182B3B"/>
                              </a:solidFill>
                              <a:latin typeface="Cambria Math"/>
                              <a:ea typeface="Cambria Math"/>
                              <a:cs typeface="Cambria Math"/>
                            </a:rPr>
                            <m:t xml:space="preserve">i</m:t>
                          </m:r>
                          <m:r>
                            <m:rPr>
                              <m:sty m:val="p"/>
                            </m:rPr>
                            <a:rPr lang="ru-RU" sz="2325" i="0" b="0">
                              <a:solidFill>
                                <a:srgbClr val="182B3B"/>
                              </a:solidFill>
                              <a:latin typeface="Cambria Math"/>
                              <a:ea typeface="Cambria Math"/>
                              <a:cs typeface="Cambria Math"/>
                            </a:rPr>
                            <m:t xml:space="preserve"> = 1</m:t>
                          </m:r>
                        </m:sub>
                        <m:sup>
                          <m:r>
                            <m:rPr>
                              <m:sty m:val="i"/>
                            </m:rPr>
                            <a:rPr lang="ru-RU" sz="2325" i="1" b="0">
                              <a:solidFill>
                                <a:srgbClr val="182B3B"/>
                              </a:solidFill>
                              <a:latin typeface="Cambria Math"/>
                              <a:ea typeface="Cambria Math"/>
                              <a:cs typeface="Cambria Math"/>
                            </a:rPr>
                            <m:t xml:space="preserve">N</m:t>
                          </m:r>
                        </m:sup>
                        <m:e>
                          <m:sSub>
                            <m:sSubPr>
                              <m:ctrlPr>
                                <a:rPr lang="ru-RU" sz="2325" i="0" b="0">
                                  <a:solidFill>
                                    <a:srgbClr val="182B3B"/>
                                  </a:solidFill>
                                  <a:latin typeface="Cambria Math"/>
                                  <a:ea typeface="Cambria Math"/>
                                  <a:cs typeface="Cambria Math"/>
                                </a:rPr>
                              </m:ctrlPr>
                            </m:sSubPr>
                            <m:e>
                              <m:r>
                                <m:rPr>
                                  <m:sty m:val="i"/>
                                </m:rPr>
                                <a:rPr lang="ru-RU" sz="2325" i="1" b="0">
                                  <a:solidFill>
                                    <a:srgbClr val="182B3B"/>
                                  </a:solidFill>
                                  <a:latin typeface="Cambria Math"/>
                                  <a:ea typeface="Cambria Math"/>
                                  <a:cs typeface="Cambria Math"/>
                                </a:rPr>
                                <m:t xml:space="preserve">C</m:t>
                              </m:r>
                            </m:e>
                            <m:sub>
                              <m:r>
                                <m:rPr>
                                  <m:sty m:val="p"/>
                                </m:rPr>
                                <a:rPr lang="ru-RU" sz="2325" i="0" b="0">
                                  <a:solidFill>
                                    <a:srgbClr val="182B3B"/>
                                  </a:solidFill>
                                  <a:latin typeface="Cambria Math"/>
                                  <a:ea typeface="Cambria Math"/>
                                  <a:cs typeface="Cambria Math"/>
                                </a:rPr>
                                <m:t xml:space="preserve">agent, </m:t>
                              </m:r>
                              <m:r>
                                <m:rPr>
                                  <m:sty m:val="i"/>
                                </m:rPr>
                                <a:rPr lang="ru-RU" sz="2325" i="1" b="0">
                                  <a:solidFill>
                                    <a:srgbClr val="182B3B"/>
                                  </a:solidFill>
                                  <a:latin typeface="Cambria Math"/>
                                  <a:ea typeface="Cambria Math"/>
                                  <a:cs typeface="Cambria Math"/>
                                </a:rPr>
                                <m:t xml:space="preserve">i</m:t>
                              </m:r>
                            </m:sub>
                          </m:sSub>
                        </m:e>
                      </m:nary>
                    </m:num>
                    <m:den>
                      <m:r>
                        <m:rPr>
                          <m:sty m:val="i"/>
                        </m:rPr>
                        <a:rPr lang="ru-RU" sz="2325" i="1" b="0">
                          <a:solidFill>
                            <a:srgbClr val="182B3B"/>
                          </a:solidFill>
                          <a:latin typeface="Cambria Math"/>
                          <a:ea typeface="Cambria Math"/>
                          <a:cs typeface="Cambria Math"/>
                        </a:rPr>
                        <m:t xml:space="preserve">S</m:t>
                      </m:r>
                    </m:den>
                  </m:f>
                </m:oMath>
              </m:oMathPara>
            </a14:m>
            <a:endParaRPr lang="ru-RU"/>
          </a:p>
        </p:txBody>
      </p:sp>
      <p:sp>
        <p:nvSpPr>
          <p:cNvPr id="4" name="">
            <a:extLst xmlns:a="http://schemas.openxmlformats.org/drawingml/2006/main">
              <a:ext uri="{FF2B5EF4-FFF2-40B4-BE49-F238E27FC236}">
                <a16:creationId xmlns:a16="http://schemas.microsoft.com/office/drawing/2014/main" id="{7544103F-51B9-41B0-BF49-46AB21A4538C}"/>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10</a:t>
            </a:r>
          </a:p>
        </p:txBody>
      </p:sp>
      <p:sp>
        <p:nvSpPr>
          <p:cNvPr id="40" name="Formula definition 40"/>
          <p:cNvSpPr>
            <a:spLocks xmlns:a="http://schemas.openxmlformats.org/drawingml/2006/main" noGrp="1"/>
          </p:cNvSpPr>
          <p:nvPr/>
        </p:nvSpPr>
        <p:spPr>
          <a:xfrm>
            <a:off x="7762875" y="5276850"/>
            <a:ext cx="3743325" cy="581025"/>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800" i="1" b="0">
                <a:solidFill>
                  <a:srgbClr val="182B3B"/>
                </a:solidFill>
                <a:latin typeface="Cambria Math"/>
                <a:ea typeface="Cambria Math"/>
                <a:cs typeface="Cambria Math"/>
              </a:rPr>
              <a:t xml:space="preserve">N</a:t>
            </a:r>
            <a:r>
              <a:rPr lang="ru-RU" sz="1800" i="0" b="0">
                <a:solidFill>
                  <a:srgbClr val="182B3B"/>
                </a:solidFill>
                <a:latin typeface="DejaVu Sans"/>
                <a:ea typeface="DejaVu Sans"/>
                <a:cs typeface="DejaVu Sans"/>
              </a:rPr>
              <a:t xml:space="preserve"> — число всех выполнений</a:t>
            </a:r>
          </a:p>
          <a:p>
            <a:r>
              <a:rPr lang="ru-RU" sz="1800" i="1" b="0">
                <a:solidFill>
                  <a:srgbClr val="182B3B"/>
                </a:solidFill>
                <a:latin typeface="Cambria Math"/>
                <a:ea typeface="Cambria Math"/>
                <a:cs typeface="Cambria Math"/>
              </a:rPr>
              <a:t xml:space="preserve">S</a:t>
            </a:r>
            <a:r>
              <a:rPr lang="ru-RU" sz="1800" i="0" b="0">
                <a:solidFill>
                  <a:srgbClr val="182B3B"/>
                </a:solidFill>
                <a:latin typeface="DejaVu Sans"/>
                <a:ea typeface="DejaVu Sans"/>
                <a:cs typeface="DejaVu Sans"/>
              </a:rPr>
              <a:t xml:space="preserve"> — число успехов </a:t>
            </a:r>
            <a:r>
              <a:rPr lang="ru-RU" sz="1800" i="0" b="0">
                <a:solidFill>
                  <a:srgbClr val="182B3B"/>
                </a:solidFill>
                <a:latin typeface="Cambria Math"/>
                <a:ea typeface="Cambria Math"/>
                <a:cs typeface="Cambria Math"/>
              </a:rPr>
              <a:t xml:space="preserve">(</a:t>
            </a:r>
            <a:r>
              <a:rPr lang="ru-RU" sz="1800" i="1" b="0">
                <a:solidFill>
                  <a:srgbClr val="182B3B"/>
                </a:solidFill>
                <a:latin typeface="Cambria Math"/>
                <a:ea typeface="Cambria Math"/>
                <a:cs typeface="Cambria Math"/>
              </a:rPr>
              <a:t xml:space="preserve">S</a:t>
            </a:r>
            <a:r>
              <a:rPr lang="ru-RU" sz="1800" i="0" b="0">
                <a:solidFill>
                  <a:srgbClr val="182B3B"/>
                </a:solidFill>
                <a:latin typeface="Cambria Math"/>
                <a:ea typeface="Cambria Math"/>
                <a:cs typeface="Cambria Math"/>
              </a:rPr>
              <a:t xml:space="preserve"> &gt; 0)</a:t>
            </a:r>
          </a:p>
        </p:txBody>
      </p:sp>
      <p:sp>
        <p:nvSpPr>
          <p:cNvPr id="41" name="Formula definition 41"/>
          <p:cNvSpPr>
            <a:spLocks xmlns:a="http://schemas.openxmlformats.org/drawingml/2006/main" noGrp="1"/>
          </p:cNvSpPr>
          <p:nvPr/>
        </p:nvSpPr>
        <p:spPr>
          <a:xfrm>
            <a:off x="685800" y="6048375"/>
            <a:ext cx="10820400" cy="295275"/>
          </a:xfrm>
          <a:prstGeom xmlns:a="http://schemas.openxmlformats.org/drawingml/2006/main" prst="rect">
            <a:avLst/>
          </a:prstGeom>
          <a:noFill xmlns:a="http://schemas.openxmlformats.org/drawingml/2006/main"/>
          <a:ln xmlns:a="http://schemas.openxmlformats.org/drawingml/2006/main" w="0">
            <a:noFill/>
          </a:ln>
        </p:spPr>
        <p:txBody>
          <a:bodyPr wrap="none" lIns="0" tIns="0" rIns="0" bIns="0" anchor="ctr">
            <a:noAutofit/>
          </a:bodyPr>
          <a:lstStyle/>
          <a:p>
            <a:r>
              <a:rPr lang="ru-RU" sz="1700" i="0" b="0">
                <a:solidFill>
                  <a:srgbClr val="182B3B"/>
                </a:solidFill>
                <a:latin typeface="DejaVu Sans"/>
                <a:ea typeface="DejaVu Sans"/>
                <a:cs typeface="DejaVu Sans"/>
              </a:rPr>
              <a:t xml:space="preserve">Все попытки входят в сумму. При </a:t>
            </a:r>
            <a:r>
              <a:rPr lang="ru-RU" sz="1700" i="1" b="0">
                <a:solidFill>
                  <a:srgbClr val="182B3B"/>
                </a:solidFill>
                <a:latin typeface="Cambria Math"/>
                <a:ea typeface="Cambria Math"/>
                <a:cs typeface="Cambria Math"/>
              </a:rPr>
              <a:t xml:space="preserve">S</a:t>
            </a:r>
            <a:r>
              <a:rPr lang="ru-RU" sz="1700" i="0" b="0">
                <a:solidFill>
                  <a:srgbClr val="182B3B"/>
                </a:solidFill>
                <a:latin typeface="Cambria Math"/>
                <a:ea typeface="Cambria Math"/>
                <a:cs typeface="Cambria Math"/>
              </a:rPr>
              <a:t xml:space="preserve"> = 0</a:t>
            </a:r>
            <a:r>
              <a:rPr lang="ru-RU" sz="1700" i="0" b="0">
                <a:solidFill>
                  <a:srgbClr val="182B3B"/>
                </a:solidFill>
                <a:latin typeface="DejaVu Sans"/>
                <a:ea typeface="DejaVu Sans"/>
                <a:cs typeface="DejaVu Sans"/>
              </a:rPr>
              <a:t xml:space="preserve"> стоимость успеха не определена</a:t>
            </a:r>
          </a:p>
        </p:txBody>
      </p:sp>
    </p:spTree>
    <p:extLst>
      <p:ext uri="{BB962C8B-B14F-4D97-AF65-F5344CB8AC3E}">
        <p14:creationId xmlns:p14="http://schemas.microsoft.com/office/powerpoint/2010/main" val="1143742723"/>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A79139-AF57-467D-99B6-9EBCCE6D2B36}"/>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Этапы исследования и их результаты</a:t>
            </a:r>
          </a:p>
        </p:txBody>
      </p:sp>
      <p:sp>
        <p:nvSpPr>
          <p:cNvPr id="2" name="">
            <a:extLst xmlns:a="http://schemas.openxmlformats.org/drawingml/2006/main">
              <a:ext uri="{FF2B5EF4-FFF2-40B4-BE49-F238E27FC236}">
                <a16:creationId xmlns:a16="http://schemas.microsoft.com/office/drawing/2014/main" id="{9D01E7B3-94B6-4C08-8B19-D9A46EE04569}"/>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1. Запуск агента</a:t>
            </a:r>
          </a:p>
        </p:txBody>
      </p:sp>
      <p:sp>
        <p:nvSpPr>
          <p:cNvPr id="3" name="">
            <a:extLst xmlns:a="http://schemas.openxmlformats.org/drawingml/2006/main">
              <a:ext uri="{FF2B5EF4-FFF2-40B4-BE49-F238E27FC236}">
                <a16:creationId xmlns:a16="http://schemas.microsoft.com/office/drawing/2014/main" id="{21E43D40-E4E0-4E6C-BAFE-D2CA0AB6EA7A}"/>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Проверить среду и запустить исходного агента. Измерить успех, затраты и время</a:t>
            </a:r>
          </a:p>
        </p:txBody>
      </p:sp>
      <p:sp>
        <p:nvSpPr>
          <p:cNvPr id="4" name="">
            <a:extLst xmlns:a="http://schemas.openxmlformats.org/drawingml/2006/main">
              <a:ext uri="{FF2B5EF4-FFF2-40B4-BE49-F238E27FC236}">
                <a16:creationId xmlns:a16="http://schemas.microsoft.com/office/drawing/2014/main" id="{F77D9D3E-A692-48B7-AD34-88B56D4848F3}"/>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2. Выбрать узел</a:t>
            </a:r>
          </a:p>
        </p:txBody>
      </p:sp>
      <p:sp>
        <p:nvSpPr>
          <p:cNvPr id="5" name="">
            <a:extLst xmlns:a="http://schemas.openxmlformats.org/drawingml/2006/main">
              <a:ext uri="{FF2B5EF4-FFF2-40B4-BE49-F238E27FC236}">
                <a16:creationId xmlns:a16="http://schemas.microsoft.com/office/drawing/2014/main" id="{5EB46C76-CFB0-4A6C-9EBA-EFB9D918F162}"/>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Разобрать ошибки и вызовы. Выделить один узел, который будем менять</a:t>
            </a:r>
          </a:p>
        </p:txBody>
      </p:sp>
      <p:sp>
        <p:nvSpPr>
          <p:cNvPr id="6" name="">
            <a:extLst xmlns:a="http://schemas.openxmlformats.org/drawingml/2006/main">
              <a:ext uri="{FF2B5EF4-FFF2-40B4-BE49-F238E27FC236}">
                <a16:creationId xmlns:a16="http://schemas.microsoft.com/office/drawing/2014/main" id="{CD301DAA-EDC9-409E-89A9-47A56DA48602}"/>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3. Сравнить методы</a:t>
            </a:r>
          </a:p>
        </p:txBody>
      </p:sp>
      <p:sp>
        <p:nvSpPr>
          <p:cNvPr id="7" name="">
            <a:extLst xmlns:a="http://schemas.openxmlformats.org/drawingml/2006/main">
              <a:ext uri="{FF2B5EF4-FFF2-40B4-BE49-F238E27FC236}">
                <a16:creationId xmlns:a16="http://schemas.microsoft.com/office/drawing/2014/main" id="{1083BD45-713A-48B8-B369-4EAA8D857A00}"/>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Заменить этот узел и повторить те же задачи. Проверить качество и затраты</a:t>
            </a:r>
          </a:p>
        </p:txBody>
      </p:sp>
      <p:sp>
        <p:nvSpPr>
          <p:cNvPr id="8" name="">
            <a:extLst xmlns:a="http://schemas.openxmlformats.org/drawingml/2006/main">
              <a:ext uri="{FF2B5EF4-FFF2-40B4-BE49-F238E27FC236}">
                <a16:creationId xmlns:a16="http://schemas.microsoft.com/office/drawing/2014/main" id="{D729E74B-0E95-4781-B935-A8174478A63D}"/>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4. Объяснить результат</a:t>
            </a:r>
          </a:p>
        </p:txBody>
      </p:sp>
      <p:sp>
        <p:nvSpPr>
          <p:cNvPr id="9" name="">
            <a:extLst xmlns:a="http://schemas.openxmlformats.org/drawingml/2006/main">
              <a:ext uri="{FF2B5EF4-FFF2-40B4-BE49-F238E27FC236}">
                <a16:creationId xmlns:a16="http://schemas.microsoft.com/office/drawing/2014/main" id="{ACA3F73B-222A-47E1-8F69-97BDF03D663D}"/>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Определить, когда замена полезна. Оформить постановку, код и анализ для ВКР</a:t>
            </a:r>
          </a:p>
        </p:txBody>
      </p:sp>
      <p:sp>
        <p:nvSpPr>
          <p:cNvPr id="10" name="">
            <a:extLst xmlns:a="http://schemas.openxmlformats.org/drawingml/2006/main">
              <a:ext uri="{FF2B5EF4-FFF2-40B4-BE49-F238E27FC236}">
                <a16:creationId xmlns:a16="http://schemas.microsoft.com/office/drawing/2014/main" id="{89CD0024-5F0D-423A-BDE8-91783431F24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Сейчас: проект постановки и обзор. Следующий этап — запуск исходного агента</a:t>
            </a:r>
          </a:p>
        </p:txBody>
      </p:sp>
      <p:sp>
        <p:nvSpPr>
          <p:cNvPr id="11" name="">
            <a:extLst xmlns:a="http://schemas.openxmlformats.org/drawingml/2006/main">
              <a:ext uri="{FF2B5EF4-FFF2-40B4-BE49-F238E27FC236}">
                <a16:creationId xmlns:a16="http://schemas.microsoft.com/office/drawing/2014/main" id="{9F185BEB-8CE5-4DD8-B289-D82706B0E04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11</a:t>
            </a:r>
          </a:p>
        </p:txBody>
      </p:sp>
    </p:spTree>
    <p:extLst>
      <p:ext uri="{BB962C8B-B14F-4D97-AF65-F5344CB8AC3E}">
        <p14:creationId xmlns:p14="http://schemas.microsoft.com/office/powerpoint/2010/main" val="317894536"/>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648B53-946B-4B19-8C76-CC5C0E4F2174}"/>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Три самостоятельных исследования</a:t>
            </a:r>
          </a:p>
        </p:txBody>
      </p:sp>
      <p:graphicFrame>
        <p:nvGraphicFramePr>
          <p:cNvPr id="2" name="">
            <a:extLst xmlns:a="http://schemas.openxmlformats.org/drawingml/2006/main">
              <a:ext uri="{FF2B5EF4-FFF2-40B4-BE49-F238E27FC236}">
                <a16:creationId xmlns:a16="http://schemas.microsoft.com/office/drawing/2014/main" id="{07B3AA40-E15D-4815-9104-4C964CDEFFEB}"/>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457450"/>
                <a:gridCol w="3924300"/>
                <a:gridCol w="4438650"/>
              </a:tblGrid>
              <a:tr h="552450">
                <a:tc>
                  <a:txBody>
                    <a:bodyPr>
                      <a:noAutofit/>
                    </a:bodyPr>
                    <a:lstStyle/>
                    <a:p>
                      <a:r>
                        <a:rPr sz="1800" b="1">
                          <a:solidFill>
                            <a:srgbClr val="FFFFFF"/>
                          </a:solidFill>
                          <a:latin typeface="DejaVu Sans"/>
                          <a:ea typeface="DejaVu Sans"/>
                          <a:cs typeface="DejaVu Sans"/>
                        </a:rPr>
                        <a:t>Направление</a:t>
                      </a:r>
                    </a:p>
                  </a:txBody>
                  <a:tcPr marL="95250" marR="95250" marT="95250" marB="95250" anchor="ctr">
                    <a:solidFill>
                      <a:srgbClr val="182B3B"/>
                    </a:solidFill>
                  </a:tcPr>
                </a:tc>
                <a:tc>
                  <a:txBody>
                    <a:bodyPr>
                      <a:noAutofit/>
                    </a:bodyPr>
                    <a:lstStyle/>
                    <a:p>
                      <a:r>
                        <a:rPr sz="1800" b="1">
                          <a:solidFill>
                            <a:srgbClr val="FFFFFF"/>
                          </a:solidFill>
                          <a:latin typeface="DejaVu Sans"/>
                          <a:ea typeface="DejaVu Sans"/>
                          <a:cs typeface="DejaVu Sans"/>
                        </a:rPr>
                        <a:t>Вопрос</a:t>
                      </a:r>
                    </a:p>
                  </a:txBody>
                  <a:tcPr marL="95250" marR="95250" marT="95250" marB="95250" anchor="ctr">
                    <a:solidFill>
                      <a:srgbClr val="182B3B"/>
                    </a:solidFill>
                  </a:tcPr>
                </a:tc>
                <a:tc>
                  <a:txBody>
                    <a:bodyPr>
                      <a:noAutofit/>
                    </a:bodyPr>
                    <a:lstStyle/>
                    <a:p>
                      <a:r>
                        <a:rPr sz="1800" b="1">
                          <a:solidFill>
                            <a:srgbClr val="FFFFFF"/>
                          </a:solidFill>
                          <a:latin typeface="DejaVu Sans"/>
                          <a:ea typeface="DejaVu Sans"/>
                          <a:cs typeface="DejaVu Sans"/>
                        </a:rPr>
                        <a:t>Сравнение и результат</a:t>
                      </a:r>
                    </a:p>
                  </a:txBody>
                  <a:tcPr marL="95250" marR="95250" marT="95250" marB="95250" anchor="ctr">
                    <a:solidFill>
                      <a:srgbClr val="182B3B"/>
                    </a:solidFill>
                  </a:tcPr>
                </a:tc>
              </a:tr>
              <a:tr h="1054100">
                <a:tc>
                  <a:txBody>
                    <a:bodyPr>
                      <a:noAutofit/>
                    </a:bodyPr>
                    <a:lstStyle/>
                    <a:p>
                      <a:r>
                        <a:rPr sz="1800" b="1">
                          <a:solidFill>
                            <a:srgbClr val="182B3B"/>
                          </a:solidFill>
                          <a:latin typeface="DejaVu Sans"/>
                          <a:ea typeface="DejaVu Sans"/>
                          <a:cs typeface="DejaVu Sans"/>
                        </a:rPr>
                        <a:t>1. Инструменты</a:t>
                      </a:r>
                    </a:p>
                    <a:p>
                      <a:r>
                        <a:rPr sz="1800" b="1">
                          <a:solidFill>
                            <a:srgbClr val="182B3B"/>
                          </a:solidFill>
                          <a:latin typeface="DejaVu Sans"/>
                          <a:ea typeface="DejaVu Sans"/>
                          <a:cs typeface="DejaVu Sans"/>
                        </a:rPr>
                        <a:t>и поиск</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Можно ли удешевить выбор инструмента или поиска при допустимой потере качества?</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Селектор действий против LLM</a:t>
                      </a:r>
                    </a:p>
                    <a:p>
                      <a:r>
                        <a:rPr sz="1800" b="0">
                          <a:solidFill>
                            <a:srgbClr val="182B3B"/>
                          </a:solidFill>
                          <a:latin typeface="DejaVu Sans"/>
                          <a:ea typeface="DejaVu Sans"/>
                          <a:cs typeface="DejaVu Sans"/>
                        </a:rPr>
                        <a:t>Качество агента и затраты</a:t>
                      </a:r>
                    </a:p>
                    <a:p>
                      <a:r>
                        <a:rPr sz="1800" b="0">
                          <a:solidFill>
                            <a:srgbClr val="182B3B"/>
                          </a:solidFill>
                          <a:latin typeface="DejaVu Sans"/>
                          <a:ea typeface="DejaVu Sans"/>
                          <a:cs typeface="DejaVu Sans"/>
                        </a:rPr>
                        <a:t>при фиксированных моделях</a:t>
                      </a:r>
                    </a:p>
                  </a:txBody>
                  <a:tcPr marL="95250" marR="95250" marT="95250" marB="95250" anchor="ctr">
                    <a:solidFill>
                      <a:srgbClr val="F4F1EA"/>
                    </a:solidFill>
                  </a:tcPr>
                </a:tc>
              </a:tr>
              <a:tr h="1054100">
                <a:tc>
                  <a:txBody>
                    <a:bodyPr>
                      <a:noAutofit/>
                    </a:bodyPr>
                    <a:lstStyle/>
                    <a:p>
                      <a:r>
                        <a:rPr sz="1800" b="1">
                          <a:solidFill>
                            <a:srgbClr val="182B3B"/>
                          </a:solidFill>
                          <a:latin typeface="DejaVu Sans"/>
                          <a:ea typeface="DejaVu Sans"/>
                          <a:cs typeface="DejaVu Sans"/>
                        </a:rPr>
                        <a:t>2. Отбор</a:t>
                      </a:r>
                    </a:p>
                    <a:p>
                      <a:r>
                        <a:rPr sz="1800" b="1">
                          <a:solidFill>
                            <a:srgbClr val="182B3B"/>
                          </a:solidFill>
                          <a:latin typeface="DejaVu Sans"/>
                          <a:ea typeface="DejaVu Sans"/>
                          <a:cs typeface="DejaVu Sans"/>
                        </a:rPr>
                        <a:t>контекста</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Какие документы выбрать</a:t>
                      </a:r>
                    </a:p>
                    <a:p>
                      <a:r>
                        <a:rPr sz="1800" b="0">
                          <a:solidFill>
                            <a:srgbClr val="182B3B"/>
                          </a:solidFill>
                          <a:latin typeface="DejaVu Sans"/>
                          <a:ea typeface="DejaVu Sans"/>
                          <a:cs typeface="DejaVu Sans"/>
                        </a:rPr>
                        <a:t>из общего набора</a:t>
                      </a:r>
                    </a:p>
                    <a:p>
                      <a:r>
                        <a:rPr sz="1800" b="0">
                          <a:solidFill>
                            <a:srgbClr val="182B3B"/>
                          </a:solidFill>
                          <a:latin typeface="DejaVu Sans"/>
                          <a:ea typeface="DejaVu Sans"/>
                          <a:cs typeface="DejaVu Sans"/>
                        </a:rPr>
                        <a:t>при заданном бюджете?</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Отбор против исходного порядка и модели ранжирования</a:t>
                      </a:r>
                    </a:p>
                    <a:p>
                      <a:r>
                        <a:rPr sz="1800" b="0">
                          <a:solidFill>
                            <a:srgbClr val="182B3B"/>
                          </a:solidFill>
                          <a:latin typeface="DejaVu Sans"/>
                          <a:ea typeface="DejaVu Sans"/>
                          <a:cs typeface="DejaVu Sans"/>
                        </a:rPr>
                        <a:t>Качество при разных бюджетах</a:t>
                      </a:r>
                    </a:p>
                  </a:txBody>
                  <a:tcPr marL="95250" marR="95250" marT="95250" marB="95250" anchor="ctr">
                    <a:solidFill>
                      <a:srgbClr val="F4F1EA"/>
                    </a:solidFill>
                  </a:tcPr>
                </a:tc>
              </a:tr>
              <a:tr h="1054100">
                <a:tc>
                  <a:txBody>
                    <a:bodyPr>
                      <a:noAutofit/>
                    </a:bodyPr>
                    <a:lstStyle/>
                    <a:p>
                      <a:r>
                        <a:rPr sz="1800" b="1">
                          <a:solidFill>
                            <a:srgbClr val="182B3B"/>
                          </a:solidFill>
                          <a:latin typeface="DejaVu Sans"/>
                          <a:ea typeface="DejaVu Sans"/>
                          <a:cs typeface="DejaVu Sans"/>
                        </a:rPr>
                        <a:t>3. Адаптация</a:t>
                      </a:r>
                    </a:p>
                    <a:p>
                      <a:r>
                        <a:rPr sz="1800" b="1">
                          <a:solidFill>
                            <a:srgbClr val="182B3B"/>
                          </a:solidFill>
                          <a:latin typeface="DejaVu Sans"/>
                          <a:ea typeface="DejaVu Sans"/>
                          <a:cs typeface="DejaVu Sans"/>
                        </a:rPr>
                        <a:t>модели</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Улучшает ли адаптация качество при том же наборе меток?</a:t>
                      </a:r>
                    </a:p>
                  </a:txBody>
                  <a:tcPr marL="95250" marR="95250" marT="95250" marB="95250" anchor="ctr">
                    <a:solidFill>
                      <a:srgbClr val="F4F1EA"/>
                    </a:solidFill>
                  </a:tcPr>
                </a:tc>
                <a:tc>
                  <a:txBody>
                    <a:bodyPr>
                      <a:noAutofit/>
                    </a:bodyPr>
                    <a:lstStyle/>
                    <a:p>
                      <a:r>
                        <a:rPr sz="1800" b="0">
                          <a:solidFill>
                            <a:srgbClr val="182B3B"/>
                          </a:solidFill>
                          <a:latin typeface="DejaVu Sans"/>
                          <a:ea typeface="DejaVu Sans"/>
                          <a:cs typeface="DejaVu Sans"/>
                        </a:rPr>
                        <a:t>Замороженная модель, обучение головы и дообучение</a:t>
                      </a:r>
                    </a:p>
                    <a:p>
                      <a:r>
                        <a:rPr sz="1800" b="0">
                          <a:solidFill>
                            <a:srgbClr val="182B3B"/>
                          </a:solidFill>
                          <a:latin typeface="DejaVu Sans"/>
                          <a:ea typeface="DejaVu Sans"/>
                          <a:cs typeface="DejaVu Sans"/>
                        </a:rPr>
                        <a:t>Кривые качества и затрат</a:t>
                      </a:r>
                    </a:p>
                  </a:txBody>
                  <a:tcPr marL="95250" marR="952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6F743EC7-486E-4EEE-9ED9-E58268F5288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Темы предложены для обсуждения. Авторов и протоколы ещё предстоит согласовать</a:t>
            </a:r>
          </a:p>
        </p:txBody>
      </p:sp>
      <p:sp>
        <p:nvSpPr>
          <p:cNvPr id="4" name="">
            <a:extLst xmlns:a="http://schemas.openxmlformats.org/drawingml/2006/main">
              <a:ext uri="{FF2B5EF4-FFF2-40B4-BE49-F238E27FC236}">
                <a16:creationId xmlns:a16="http://schemas.microsoft.com/office/drawing/2014/main" id="{6F7B977D-A8B5-4CDF-A864-8EEAD32CD46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12</a:t>
            </a:r>
          </a:p>
        </p:txBody>
      </p:sp>
    </p:spTree>
    <p:extLst>
      <p:ext uri="{BB962C8B-B14F-4D97-AF65-F5344CB8AC3E}">
        <p14:creationId xmlns:p14="http://schemas.microsoft.com/office/powerpoint/2010/main" val="577451753"/>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D7D6ED-F6E0-416B-8DD7-47385EE0ACE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Общий стенд и границы личного вклада</a:t>
            </a:r>
          </a:p>
        </p:txBody>
      </p:sp>
      <p:sp>
        <p:nvSpPr>
          <p:cNvPr id="2" name="">
            <a:extLst xmlns:a="http://schemas.openxmlformats.org/drawingml/2006/main">
              <a:ext uri="{FF2B5EF4-FFF2-40B4-BE49-F238E27FC236}">
                <a16:creationId xmlns:a16="http://schemas.microsoft.com/office/drawing/2014/main" id="{82F7E6C8-62A5-4B45-9688-5C00204E48A1}"/>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Общая платформа</a:t>
            </a:r>
          </a:p>
        </p:txBody>
      </p:sp>
      <p:sp>
        <p:nvSpPr>
          <p:cNvPr id="3" name="">
            <a:extLst xmlns:a="http://schemas.openxmlformats.org/drawingml/2006/main">
              <a:ext uri="{FF2B5EF4-FFF2-40B4-BE49-F238E27FC236}">
                <a16:creationId xmlns:a16="http://schemas.microsoft.com/office/drawing/2014/main" id="{54DE249E-4B45-4F91-8332-499745A7A2D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Агент, данные и логирование. Стоимость агента и расходы стенда учитываем отдельно</a:t>
            </a:r>
          </a:p>
        </p:txBody>
      </p:sp>
      <p:sp>
        <p:nvSpPr>
          <p:cNvPr id="4" name="">
            <a:extLst xmlns:a="http://schemas.openxmlformats.org/drawingml/2006/main">
              <a:ext uri="{FF2B5EF4-FFF2-40B4-BE49-F238E27FC236}">
                <a16:creationId xmlns:a16="http://schemas.microsoft.com/office/drawing/2014/main" id="{70FD6DEA-BF8D-4F89-80EE-2F9EC601C39F}"/>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1. Маршрутизация</a:t>
            </a:r>
          </a:p>
        </p:txBody>
      </p:sp>
      <p:sp>
        <p:nvSpPr>
          <p:cNvPr id="5" name="">
            <a:extLst xmlns:a="http://schemas.openxmlformats.org/drawingml/2006/main">
              <a:ext uri="{FF2B5EF4-FFF2-40B4-BE49-F238E27FC236}">
                <a16:creationId xmlns:a16="http://schemas.microsoft.com/office/drawing/2014/main" id="{D40C5297-EC0B-4FE8-8FD8-FB120C78C5EB}"/>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Фиксируем модели и генератор аргументов.</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Меняем правило выбора действия</a:t>
            </a:r>
          </a:p>
        </p:txBody>
      </p:sp>
      <p:sp>
        <p:nvSpPr>
          <p:cNvPr id="6" name="">
            <a:extLst xmlns:a="http://schemas.openxmlformats.org/drawingml/2006/main">
              <a:ext uri="{FF2B5EF4-FFF2-40B4-BE49-F238E27FC236}">
                <a16:creationId xmlns:a16="http://schemas.microsoft.com/office/drawing/2014/main" id="{3B7ED13A-D4DD-4F3A-956F-8CFF02ADA8F3}"/>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2. Контекст</a:t>
            </a:r>
          </a:p>
        </p:txBody>
      </p:sp>
      <p:sp>
        <p:nvSpPr>
          <p:cNvPr id="7" name="">
            <a:extLst xmlns:a="http://schemas.openxmlformats.org/drawingml/2006/main">
              <a:ext uri="{FF2B5EF4-FFF2-40B4-BE49-F238E27FC236}">
                <a16:creationId xmlns:a16="http://schemas.microsoft.com/office/drawing/2014/main" id="{21B8CABC-56C0-4C07-A214-919CEA13CD59}"/>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Фиксируем запрос, кандидатов и генератор.</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Сравниваем отбор при одинаковом бюджете</a:t>
            </a:r>
          </a:p>
        </p:txBody>
      </p:sp>
      <p:sp>
        <p:nvSpPr>
          <p:cNvPr id="8" name="">
            <a:extLst xmlns:a="http://schemas.openxmlformats.org/drawingml/2006/main">
              <a:ext uri="{FF2B5EF4-FFF2-40B4-BE49-F238E27FC236}">
                <a16:creationId xmlns:a16="http://schemas.microsoft.com/office/drawing/2014/main" id="{DF64F411-9299-46A0-990E-A18DEFB98AC6}"/>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rPr>
              <a:t>3. Адаптация</a:t>
            </a:r>
          </a:p>
        </p:txBody>
      </p:sp>
      <p:sp>
        <p:nvSpPr>
          <p:cNvPr id="9" name="">
            <a:extLst xmlns:a="http://schemas.openxmlformats.org/drawingml/2006/main">
              <a:ext uri="{FF2B5EF4-FFF2-40B4-BE49-F238E27FC236}">
                <a16:creationId xmlns:a16="http://schemas.microsoft.com/office/drawing/2014/main" id="{D8364DD8-E896-4F31-B1AA-2D234C9A0A1E}"/>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Фиксируем узел, политику и набор меток.</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Сравниваем модель до и после адаптации</a:t>
            </a:r>
          </a:p>
        </p:txBody>
      </p:sp>
      <p:sp>
        <p:nvSpPr>
          <p:cNvPr id="10" name="">
            <a:extLst xmlns:a="http://schemas.openxmlformats.org/drawingml/2006/main">
              <a:ext uri="{FF2B5EF4-FFF2-40B4-BE49-F238E27FC236}">
                <a16:creationId xmlns:a16="http://schemas.microsoft.com/office/drawing/2014/main" id="{1E6C7271-AA4D-49BC-8A4D-8E713017E4E1}"/>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Личный вклад: своя гипотеза, эксперименты и вывод; общие компоненты обозначаем</a:t>
            </a:r>
          </a:p>
        </p:txBody>
      </p:sp>
      <p:sp>
        <p:nvSpPr>
          <p:cNvPr id="11" name="">
            <a:extLst xmlns:a="http://schemas.openxmlformats.org/drawingml/2006/main">
              <a:ext uri="{FF2B5EF4-FFF2-40B4-BE49-F238E27FC236}">
                <a16:creationId xmlns:a16="http://schemas.microsoft.com/office/drawing/2014/main" id="{3CCD6FC7-2997-4F0C-A349-7ABFAA5D5F0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13</a:t>
            </a:r>
          </a:p>
        </p:txBody>
      </p:sp>
    </p:spTree>
    <p:extLst>
      <p:ext uri="{BB962C8B-B14F-4D97-AF65-F5344CB8AC3E}">
        <p14:creationId xmlns:p14="http://schemas.microsoft.com/office/powerpoint/2010/main" val="2038952081"/>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8F3D54-2DD6-4728-AC5D-18D6E3F7089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Что предлагаем согласовать</a:t>
            </a:r>
          </a:p>
        </p:txBody>
      </p:sp>
      <p:sp>
        <p:nvSpPr>
          <p:cNvPr id="2" name="">
            <a:extLst xmlns:a="http://schemas.openxmlformats.org/drawingml/2006/main">
              <a:ext uri="{FF2B5EF4-FFF2-40B4-BE49-F238E27FC236}">
                <a16:creationId xmlns:a16="http://schemas.microsoft.com/office/drawing/2014/main" id="{8BE8076F-F218-4E3D-BDD9-22656E2A32C6}"/>
              </a:ext>
            </a:extLst>
          </p:cNvPr>
          <p:cNvSpPr>
            <a:spLocks xmlns:a="http://schemas.openxmlformats.org/drawingml/2006/main" noGrp="1"/>
          </p:cNvSpPr>
          <p:nvPr/>
        </p:nvSpPr>
        <p:spPr>
          <a:xfrm xmlns:a="http://schemas.openxmlformats.org/drawingml/2006/main">
            <a:off x="685800" y="1838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F729C75C-5675-4E11-94EE-36A47183EADB}"/>
              </a:ext>
            </a:extLst>
          </p:cNvPr>
          <p:cNvSpPr>
            <a:spLocks xmlns:a="http://schemas.openxmlformats.org/drawingml/2006/main" noGrp="1"/>
          </p:cNvSpPr>
          <p:nvPr/>
        </p:nvSpPr>
        <p:spPr>
          <a:xfrm xmlns:a="http://schemas.openxmlformats.org/drawingml/2006/main">
            <a:off x="1743075" y="18383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Три исследовательских вопроса и самостоятельный вклад каждого автора</a:t>
            </a:r>
          </a:p>
        </p:txBody>
      </p:sp>
      <p:sp>
        <p:nvSpPr>
          <p:cNvPr id="4" name="">
            <a:extLst xmlns:a="http://schemas.openxmlformats.org/drawingml/2006/main">
              <a:ext uri="{FF2B5EF4-FFF2-40B4-BE49-F238E27FC236}">
                <a16:creationId xmlns:a16="http://schemas.microsoft.com/office/drawing/2014/main" id="{F035F394-DF68-4A1B-8E60-D7C8F3BB2261}"/>
              </a:ext>
            </a:extLst>
          </p:cNvPr>
          <p:cNvSpPr>
            <a:spLocks xmlns:a="http://schemas.openxmlformats.org/drawingml/2006/main" noGrp="1"/>
          </p:cNvSpPr>
          <p:nvPr/>
        </p:nvSpPr>
        <p:spPr>
          <a:xfrm xmlns:a="http://schemas.openxmlformats.org/drawingml/2006/main">
            <a:off x="685800" y="2733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8D3C154B-9672-4D23-BBBD-55AE2B4F75CC}"/>
              </a:ext>
            </a:extLst>
          </p:cNvPr>
          <p:cNvSpPr>
            <a:spLocks xmlns:a="http://schemas.openxmlformats.org/drawingml/2006/main" noGrp="1"/>
          </p:cNvSpPr>
          <p:nvPr/>
        </p:nvSpPr>
        <p:spPr>
          <a:xfrm xmlns:a="http://schemas.openxmlformats.org/drawingml/2006/main">
            <a:off x="1743075" y="27336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Математическую постановку и допустимое ухудшение качества</a:t>
            </a:r>
          </a:p>
        </p:txBody>
      </p:sp>
      <p:sp>
        <p:nvSpPr>
          <p:cNvPr id="6" name="">
            <a:extLst xmlns:a="http://schemas.openxmlformats.org/drawingml/2006/main">
              <a:ext uri="{FF2B5EF4-FFF2-40B4-BE49-F238E27FC236}">
                <a16:creationId xmlns:a16="http://schemas.microsoft.com/office/drawing/2014/main" id="{BBCD891E-46F1-4CD6-8C3D-062797F32647}"/>
              </a:ext>
            </a:extLst>
          </p:cNvPr>
          <p:cNvSpPr>
            <a:spLocks xmlns:a="http://schemas.openxmlformats.org/drawingml/2006/main" noGrp="1"/>
          </p:cNvSpPr>
          <p:nvPr/>
        </p:nvSpPr>
        <p:spPr>
          <a:xfrm xmlns:a="http://schemas.openxmlformats.org/drawingml/2006/main">
            <a:off x="685800" y="36290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82B3B"/>
                </a:solidFill>
                <a:latin typeface="DejaVu Sans"/>
                <a:ea typeface="DejaVu Sans"/>
                <a:cs typeface="DejaVu Sans"/>
              </a:defRPr>
            </a:defPPr>
          </a:lstStyle>
          <a:p xmlns:a="http://schemas.openxmlformats.org/drawingml/2006/main">
            <a:pPr>
              <a:defRPr sz="2100" b="0">
                <a:solidFill>
                  <a:srgbClr val="182B3B"/>
                </a:solidFill>
                <a:latin typeface="DejaVu Sans"/>
                <a:ea typeface="DejaVu Sans"/>
                <a:cs typeface="DejaVu Sans"/>
              </a:defRPr>
            </a:pPr>
            <a:r>
              <a:rPr sz="2100" b="0">
                <a:solidFill>
                  <a:srgbClr val="182B3B"/>
                </a:solidFill>
                <a:latin typeface="DejaVu Sans"/>
                <a:ea typeface="DejaVu Sans"/>
                <a:cs typeface="DejaVu Sans"/>
              </a:rPr>
              <a:t>03</a:t>
            </a:r>
          </a:p>
        </p:txBody>
      </p:sp>
      <p:sp>
        <p:nvSpPr>
          <p:cNvPr id="7" name="">
            <a:extLst xmlns:a="http://schemas.openxmlformats.org/drawingml/2006/main">
              <a:ext uri="{FF2B5EF4-FFF2-40B4-BE49-F238E27FC236}">
                <a16:creationId xmlns:a16="http://schemas.microsoft.com/office/drawing/2014/main" id="{1270FBE3-686A-4999-9303-AB62846EE221}"/>
              </a:ext>
            </a:extLst>
          </p:cNvPr>
          <p:cNvSpPr>
            <a:spLocks xmlns:a="http://schemas.openxmlformats.org/drawingml/2006/main" noGrp="1"/>
          </p:cNvSpPr>
          <p:nvPr/>
        </p:nvSpPr>
        <p:spPr>
          <a:xfrm xmlns:a="http://schemas.openxmlformats.org/drawingml/2006/main">
            <a:off x="1743075" y="36290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Первый эксперимент и результат, который предъявим после него</a:t>
            </a:r>
          </a:p>
        </p:txBody>
      </p:sp>
      <p:sp>
        <p:nvSpPr>
          <p:cNvPr id="8" name="">
            <a:extLst xmlns:a="http://schemas.openxmlformats.org/drawingml/2006/main">
              <a:ext uri="{FF2B5EF4-FFF2-40B4-BE49-F238E27FC236}">
                <a16:creationId xmlns:a16="http://schemas.microsoft.com/office/drawing/2014/main" id="{21D73DD3-8ED0-4A14-8353-207DE8001C6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Цель ВКР: установить условия применимости методов на воспроизводимом сравнении</a:t>
            </a:r>
          </a:p>
        </p:txBody>
      </p:sp>
      <p:sp>
        <p:nvSpPr>
          <p:cNvPr id="9" name="">
            <a:extLst xmlns:a="http://schemas.openxmlformats.org/drawingml/2006/main">
              <a:ext uri="{FF2B5EF4-FFF2-40B4-BE49-F238E27FC236}">
                <a16:creationId xmlns:a16="http://schemas.microsoft.com/office/drawing/2014/main" id="{A08E8CA6-93F2-4CAB-AAFA-174AC52EE427}"/>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14</a:t>
            </a:r>
          </a:p>
        </p:txBody>
      </p:sp>
    </p:spTree>
    <p:extLst>
      <p:ext uri="{BB962C8B-B14F-4D97-AF65-F5344CB8AC3E}">
        <p14:creationId xmlns:p14="http://schemas.microsoft.com/office/powerpoint/2010/main" val="742249455"/>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95FCBB-E369-436E-A661-3C7CE39BCA8A}"/>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Вопросы: три самостоятельные ВКР</a:t>
            </a:r>
          </a:p>
        </p:txBody>
      </p:sp>
      <p:graphicFrame>
        <p:nvGraphicFramePr>
          <p:cNvPr id="2" name="">
            <a:extLst xmlns:a="http://schemas.openxmlformats.org/drawingml/2006/main">
              <a:ext uri="{FF2B5EF4-FFF2-40B4-BE49-F238E27FC236}">
                <a16:creationId xmlns:a16="http://schemas.microsoft.com/office/drawing/2014/main" id="{D1F26C91-7341-44E2-8B6F-5371540918F8}"/>
              </a:ext>
            </a:extLst>
          </p:cNvPr>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667000"/>
                <a:gridCol w="5334000"/>
                <a:gridCol w="2819400"/>
              </a:tblGrid>
              <a:tr h="552450">
                <a:tc>
                  <a:txBody>
                    <a:bodyPr>
                      <a:noAutofit/>
                    </a:bodyPr>
                    <a:lstStyle/>
                    <a:p>
                      <a:r>
                        <a:rPr sz="1800" b="1">
                          <a:solidFill>
                            <a:srgbClr val="FFFFFF"/>
                          </a:solidFill>
                          <a:latin typeface="DejaVu Sans"/>
                          <a:ea typeface="DejaVu Sans"/>
                          <a:cs typeface="DejaVu Sans"/>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Самостоятельный вопрос</a:t>
                      </a:r>
                    </a:p>
                  </a:txBody>
                  <a:tcPr marL="133350" marR="133350" marT="95250" marB="95250" anchor="ctr">
                    <a:solidFill>
                      <a:srgbClr val="182B3B"/>
                    </a:solidFill>
                  </a:tcPr>
                </a:tc>
                <a:tc>
                  <a:txBody>
                    <a:bodyPr>
                      <a:noAutofit/>
                    </a:bodyPr>
                    <a:lstStyle/>
                    <a:p>
                      <a:r>
                        <a:rPr sz="1800" b="1">
                          <a:solidFill>
                            <a:srgbClr val="FFFFFF"/>
                          </a:solidFill>
                          <a:latin typeface="DejaVu Sans"/>
                          <a:ea typeface="DejaVu Sans"/>
                          <a:cs typeface="DejaVu Sans"/>
                        </a:rPr>
                        <a:t>Статус</a:t>
                      </a:r>
                    </a:p>
                  </a:txBody>
                  <a:tcPr marL="133350" marR="133350" marT="95250" marB="95250" anchor="ctr">
                    <a:solidFill>
                      <a:srgbClr val="182B3B"/>
                    </a:solidFill>
                  </a:tcPr>
                </a:tc>
              </a:tr>
              <a:tr h="1054100">
                <a:tc>
                  <a:txBody>
                    <a:bodyPr>
                      <a:noAutofit/>
                    </a:bodyPr>
                    <a:lstStyle/>
                    <a:p>
                      <a:r>
                        <a:rPr sz="1800" b="1">
                          <a:solidFill>
                            <a:srgbClr val="182B3B"/>
                          </a:solidFill>
                          <a:latin typeface="DejaVu Sans"/>
                          <a:ea typeface="DejaVu Sans"/>
                          <a:cs typeface="DejaVu Sans"/>
                        </a:rPr>
                        <a:t>Выбор действия</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Дешёвый селектор против LLM:</a:t>
                      </a:r>
                    </a:p>
                    <a:p>
                      <a:r>
                        <a:rPr sz="1800" b="0">
                          <a:solidFill>
                            <a:srgbClr val="182B3B"/>
                          </a:solidFill>
                          <a:latin typeface="DejaVu Sans"/>
                          <a:ea typeface="DejaVu Sans"/>
                          <a:cs typeface="DejaVu Sans"/>
                        </a:rPr>
                        <a:t>каковы успех агента и полные затраты?</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Предложение,</a:t>
                      </a:r>
                    </a:p>
                    <a:p>
                      <a:r>
                        <a:rPr sz="1800" b="0">
                          <a:solidFill>
                            <a:srgbClr val="182B3B"/>
                          </a:solidFill>
                          <a:latin typeface="DejaVu Sans"/>
                          <a:ea typeface="DejaVu Sans"/>
                          <a:cs typeface="DejaVu Sans"/>
                        </a:rPr>
                        <a:t>после пилота</a:t>
                      </a:r>
                    </a:p>
                  </a:txBody>
                  <a:tcPr marL="133350" marR="133350" marT="95250" marB="95250" anchor="ctr">
                    <a:solidFill>
                      <a:srgbClr val="F4F1EA"/>
                    </a:solidFill>
                  </a:tcPr>
                </a:tc>
              </a:tr>
              <a:tr h="1054100">
                <a:tc>
                  <a:txBody>
                    <a:bodyPr>
                      <a:noAutofit/>
                    </a:bodyPr>
                    <a:lstStyle/>
                    <a:p>
                      <a:r>
                        <a:rPr sz="1800" b="1">
                          <a:solidFill>
                            <a:srgbClr val="182B3B"/>
                          </a:solidFill>
                          <a:latin typeface="DejaVu Sans"/>
                          <a:ea typeface="DejaVu Sans"/>
                          <a:cs typeface="DejaVu Sans"/>
                        </a:rPr>
                        <a:t>Отбор контекста</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Отбор против порядка и ранжирования:</a:t>
                      </a:r>
                    </a:p>
                    <a:p>
                      <a:r>
                        <a:rPr sz="1800" b="0">
                          <a:solidFill>
                            <a:srgbClr val="182B3B"/>
                          </a:solidFill>
                          <a:latin typeface="DejaVu Sans"/>
                          <a:ea typeface="DejaVu Sans"/>
                          <a:cs typeface="DejaVu Sans"/>
                        </a:rPr>
                        <a:t>каково качество при общем пуле и бюджете?</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Предложение,</a:t>
                      </a:r>
                    </a:p>
                    <a:p>
                      <a:r>
                        <a:rPr sz="1800" b="0">
                          <a:solidFill>
                            <a:srgbClr val="182B3B"/>
                          </a:solidFill>
                          <a:latin typeface="DejaVu Sans"/>
                          <a:ea typeface="DejaVu Sans"/>
                          <a:cs typeface="DejaVu Sans"/>
                        </a:rPr>
                        <a:t>после пилота</a:t>
                      </a:r>
                    </a:p>
                  </a:txBody>
                  <a:tcPr marL="133350" marR="133350" marT="95250" marB="95250" anchor="ctr">
                    <a:solidFill>
                      <a:srgbClr val="F4F1EA"/>
                    </a:solidFill>
                  </a:tcPr>
                </a:tc>
              </a:tr>
              <a:tr h="1054100">
                <a:tc>
                  <a:txBody>
                    <a:bodyPr>
                      <a:noAutofit/>
                    </a:bodyPr>
                    <a:lstStyle/>
                    <a:p>
                      <a:r>
                        <a:rPr sz="1800" b="1">
                          <a:solidFill>
                            <a:srgbClr val="182B3B"/>
                          </a:solidFill>
                          <a:latin typeface="DejaVu Sans"/>
                          <a:ea typeface="DejaVu Sans"/>
                          <a:cs typeface="DejaVu Sans"/>
                        </a:rPr>
                        <a:t>Адаптация модели</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Дообучение против замороженной модели и дешёвой головы при общем наборе меток?</a:t>
                      </a:r>
                    </a:p>
                  </a:txBody>
                  <a:tcPr marL="133350" marR="133350" marT="95250" marB="95250" anchor="ctr">
                    <a:solidFill>
                      <a:srgbClr val="F4F1EA"/>
                    </a:solidFill>
                  </a:tcPr>
                </a:tc>
                <a:tc>
                  <a:txBody>
                    <a:bodyPr>
                      <a:noAutofit/>
                    </a:bodyPr>
                    <a:lstStyle/>
                    <a:p>
                      <a:r>
                        <a:rPr sz="1800" b="0">
                          <a:solidFill>
                            <a:srgbClr val="182B3B"/>
                          </a:solidFill>
                          <a:latin typeface="DejaVu Sans"/>
                          <a:ea typeface="DejaVu Sans"/>
                          <a:cs typeface="DejaVu Sans"/>
                        </a:rPr>
                        <a:t>Предложение,</a:t>
                      </a:r>
                    </a:p>
                    <a:p>
                      <a:r>
                        <a:rPr sz="1800" b="0">
                          <a:solidFill>
                            <a:srgbClr val="182B3B"/>
                          </a:solidFill>
                          <a:latin typeface="DejaVu Sans"/>
                          <a:ea typeface="DejaVu Sans"/>
                          <a:cs typeface="DejaVu Sans"/>
                        </a:rPr>
                        <a:t>после пилота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462C261A-EBFD-4697-B4F5-B3288F160F8B}"/>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Общая платформа допустима при отдельных гипотезах, экспериментах и личном вкладе</a:t>
            </a:r>
          </a:p>
        </p:txBody>
      </p:sp>
      <p:sp>
        <p:nvSpPr>
          <p:cNvPr id="4" name="">
            <a:extLst xmlns:a="http://schemas.openxmlformats.org/drawingml/2006/main">
              <a:ext uri="{FF2B5EF4-FFF2-40B4-BE49-F238E27FC236}">
                <a16:creationId xmlns:a16="http://schemas.microsoft.com/office/drawing/2014/main" id="{CCD8BDF0-8C9C-41BE-A624-9AE5FAD00A7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В1</a:t>
            </a:r>
          </a:p>
        </p:txBody>
      </p:sp>
    </p:spTree>
    <p:extLst>
      <p:ext uri="{BB962C8B-B14F-4D97-AF65-F5344CB8AC3E}">
        <p14:creationId xmlns:p14="http://schemas.microsoft.com/office/powerpoint/2010/main" val="697553144"/>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AEE1A4-7534-46FA-9D55-25BD9345699C}"/>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82B3B"/>
                </a:solidFill>
                <a:latin typeface="DejaVu Sans"/>
                <a:ea typeface="DejaVu Sans"/>
                <a:cs typeface="DejaVu Sans"/>
              </a:defRPr>
            </a:defPPr>
          </a:lstStyle>
          <a:p xmlns:a="http://schemas.openxmlformats.org/drawingml/2006/main">
            <a:pPr>
              <a:defRPr sz="3300" b="1">
                <a:solidFill>
                  <a:srgbClr val="182B3B"/>
                </a:solidFill>
                <a:latin typeface="DejaVu Sans"/>
                <a:ea typeface="DejaVu Sans"/>
                <a:cs typeface="DejaVu Sans"/>
              </a:defRPr>
            </a:pPr>
            <a:r>
              <a:rPr sz="3300" b="1">
                <a:solidFill>
                  <a:srgbClr val="182B3B"/>
                </a:solidFill>
                <a:latin typeface="DejaVu Sans"/>
                <a:ea typeface="DejaVu Sans"/>
                <a:cs typeface="DejaVu Sans"/>
              </a:rPr>
              <a:t>Источники для дальнейшего обсуждения</a:t>
            </a:r>
          </a:p>
        </p:txBody>
      </p:sp>
      <p:sp>
        <p:nvSpPr>
          <p:cNvPr id="2" name="">
            <a:extLst xmlns:a="http://schemas.openxmlformats.org/drawingml/2006/main">
              <a:ext uri="{FF2B5EF4-FFF2-40B4-BE49-F238E27FC236}">
                <a16:creationId xmlns:a16="http://schemas.microsoft.com/office/drawing/2014/main" id="{1C204AA5-E39F-41D4-A14A-2D2D139826FB}"/>
              </a:ext>
            </a:extLst>
          </p:cNvPr>
          <p:cNvSpPr>
            <a:spLocks xmlns:a="http://schemas.openxmlformats.org/drawingml/2006/main" noGrp="1"/>
          </p:cNvSpPr>
          <p:nvPr/>
        </p:nvSpPr>
        <p:spPr>
          <a:xfrm xmlns:a="http://schemas.openxmlformats.org/drawingml/2006/main">
            <a:off x="685800" y="17716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hlinkClick xmlns:r="http://schemas.openxmlformats.org/officeDocument/2006/relationships" r:id="Ra9dd6b2ab92a4004"/>
              </a:rPr>
              <a:t>τ-bench</a:t>
            </a:r>
          </a:p>
        </p:txBody>
      </p:sp>
      <p:sp>
        <p:nvSpPr>
          <p:cNvPr id="3" name="">
            <a:extLst xmlns:a="http://schemas.openxmlformats.org/drawingml/2006/main">
              <a:ext uri="{FF2B5EF4-FFF2-40B4-BE49-F238E27FC236}">
                <a16:creationId xmlns:a16="http://schemas.microsoft.com/office/drawing/2014/main" id="{C3216919-BB6A-4862-8A3C-97BED8829B78}"/>
              </a:ext>
            </a:extLst>
          </p:cNvPr>
          <p:cNvSpPr>
            <a:spLocks xmlns:a="http://schemas.openxmlformats.org/drawingml/2006/main" noGrp="1"/>
          </p:cNvSpPr>
          <p:nvPr/>
        </p:nvSpPr>
        <p:spPr>
          <a:xfrm xmlns:a="http://schemas.openxmlformats.org/drawingml/2006/main">
            <a:off x="3971925" y="17716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Yao и соавт., ICLR 2025. Среда для сервисных агентов</a:t>
            </a:r>
          </a:p>
        </p:txBody>
      </p:sp>
      <p:sp>
        <p:nvSpPr>
          <p:cNvPr id="4" name="">
            <a:extLst xmlns:a="http://schemas.openxmlformats.org/drawingml/2006/main">
              <a:ext uri="{FF2B5EF4-FFF2-40B4-BE49-F238E27FC236}">
                <a16:creationId xmlns:a16="http://schemas.microsoft.com/office/drawing/2014/main" id="{1B769DE3-5736-43F6-BC46-39EAA4FFF103}"/>
              </a:ext>
            </a:extLst>
          </p:cNvPr>
          <p:cNvSpPr>
            <a:spLocks xmlns:a="http://schemas.openxmlformats.org/drawingml/2006/main" noGrp="1"/>
          </p:cNvSpPr>
          <p:nvPr/>
        </p:nvSpPr>
        <p:spPr>
          <a:xfrm xmlns:a="http://schemas.openxmlformats.org/drawingml/2006/main">
            <a:off x="685800" y="27051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hlinkClick xmlns:r="http://schemas.openxmlformats.org/officeDocument/2006/relationships" r:id="R34f14dc45c304d3e"/>
              </a:rPr>
              <a:t>τ-knowledge</a:t>
            </a:r>
          </a:p>
        </p:txBody>
      </p:sp>
      <p:sp>
        <p:nvSpPr>
          <p:cNvPr id="5" name="">
            <a:extLst xmlns:a="http://schemas.openxmlformats.org/drawingml/2006/main">
              <a:ext uri="{FF2B5EF4-FFF2-40B4-BE49-F238E27FC236}">
                <a16:creationId xmlns:a16="http://schemas.microsoft.com/office/drawing/2014/main" id="{D9C7A903-73E4-40FC-BD93-EC6D0D2E1369}"/>
              </a:ext>
            </a:extLst>
          </p:cNvPr>
          <p:cNvSpPr>
            <a:spLocks xmlns:a="http://schemas.openxmlformats.org/drawingml/2006/main" noGrp="1"/>
          </p:cNvSpPr>
          <p:nvPr/>
        </p:nvSpPr>
        <p:spPr>
          <a:xfrm xmlns:a="http://schemas.openxmlformats.org/drawingml/2006/main">
            <a:off x="3971925" y="27051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Shi и соавт., arXiv:2603.04370v1, 2026. Поиск и операции</a:t>
            </a:r>
          </a:p>
        </p:txBody>
      </p:sp>
      <p:sp>
        <p:nvSpPr>
          <p:cNvPr id="6" name="">
            <a:extLst xmlns:a="http://schemas.openxmlformats.org/drawingml/2006/main">
              <a:ext uri="{FF2B5EF4-FFF2-40B4-BE49-F238E27FC236}">
                <a16:creationId xmlns:a16="http://schemas.microsoft.com/office/drawing/2014/main" id="{20F7E4CA-54A2-4FBB-BE81-509D10DFB602}"/>
              </a:ext>
            </a:extLst>
          </p:cNvPr>
          <p:cNvSpPr>
            <a:spLocks xmlns:a="http://schemas.openxmlformats.org/drawingml/2006/main" noGrp="1"/>
          </p:cNvSpPr>
          <p:nvPr/>
        </p:nvSpPr>
        <p:spPr>
          <a:xfrm xmlns:a="http://schemas.openxmlformats.org/drawingml/2006/main">
            <a:off x="685800" y="36385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hlinkClick xmlns:r="http://schemas.openxmlformats.org/officeDocument/2006/relationships" r:id="Ree2b125f91674226"/>
              </a:rPr>
              <a:t>System One</a:t>
            </a:r>
          </a:p>
        </p:txBody>
      </p:sp>
      <p:sp>
        <p:nvSpPr>
          <p:cNvPr id="7" name="">
            <a:extLst xmlns:a="http://schemas.openxmlformats.org/drawingml/2006/main">
              <a:ext uri="{FF2B5EF4-FFF2-40B4-BE49-F238E27FC236}">
                <a16:creationId xmlns:a16="http://schemas.microsoft.com/office/drawing/2014/main" id="{BE1B593E-0CA0-4AE2-B0CB-880D72630861}"/>
              </a:ext>
            </a:extLst>
          </p:cNvPr>
          <p:cNvSpPr>
            <a:spLocks xmlns:a="http://schemas.openxmlformats.org/drawingml/2006/main" noGrp="1"/>
          </p:cNvSpPr>
          <p:nvPr/>
        </p:nvSpPr>
        <p:spPr>
          <a:xfrm xmlns:a="http://schemas.openxmlformats.org/drawingml/2006/main">
            <a:off x="3971925" y="36385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TypeSafe. Интерфейс типизированных решений</a:t>
            </a:r>
          </a:p>
        </p:txBody>
      </p:sp>
      <p:sp>
        <p:nvSpPr>
          <p:cNvPr id="8" name="">
            <a:extLst xmlns:a="http://schemas.openxmlformats.org/drawingml/2006/main">
              <a:ext uri="{FF2B5EF4-FFF2-40B4-BE49-F238E27FC236}">
                <a16:creationId xmlns:a16="http://schemas.microsoft.com/office/drawing/2014/main" id="{9DE3F262-7C28-4ED4-A4BF-B70E13A0ABCC}"/>
              </a:ext>
            </a:extLst>
          </p:cNvPr>
          <p:cNvSpPr>
            <a:spLocks xmlns:a="http://schemas.openxmlformats.org/drawingml/2006/main" noGrp="1"/>
          </p:cNvSpPr>
          <p:nvPr/>
        </p:nvSpPr>
        <p:spPr>
          <a:xfrm xmlns:a="http://schemas.openxmlformats.org/drawingml/2006/main">
            <a:off x="685800" y="45720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82B3B"/>
                </a:solidFill>
                <a:latin typeface="DejaVu Sans"/>
                <a:ea typeface="DejaVu Sans"/>
                <a:cs typeface="DejaVu Sans"/>
              </a:defRPr>
            </a:defPPr>
          </a:lstStyle>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hlinkClick xmlns:r="http://schemas.openxmlformats.org/officeDocument/2006/relationships" r:id="R72fc4b19160a46d0"/>
              </a:rPr>
              <a:t>Калибровка</a:t>
            </a:r>
          </a:p>
          <a:p xmlns:a="http://schemas.openxmlformats.org/drawingml/2006/main">
            <a:pPr>
              <a:defRPr sz="1800" b="1">
                <a:solidFill>
                  <a:srgbClr val="182B3B"/>
                </a:solidFill>
                <a:latin typeface="DejaVu Sans"/>
                <a:ea typeface="DejaVu Sans"/>
                <a:cs typeface="DejaVu Sans"/>
              </a:defRPr>
            </a:pPr>
            <a:r>
              <a:rPr sz="1800" b="1">
                <a:solidFill>
                  <a:srgbClr val="182B3B"/>
                </a:solidFill>
                <a:latin typeface="DejaVu Sans"/>
                <a:ea typeface="DejaVu Sans"/>
                <a:cs typeface="DejaVu Sans"/>
                <a:hlinkClick xmlns:r="http://schemas.openxmlformats.org/officeDocument/2006/relationships" r:id="R72fc4b19160a46d0"/>
              </a:rPr>
              <a:t>и автоматизация</a:t>
            </a:r>
          </a:p>
        </p:txBody>
      </p:sp>
      <p:sp>
        <p:nvSpPr>
          <p:cNvPr id="9" name="">
            <a:extLst xmlns:a="http://schemas.openxmlformats.org/drawingml/2006/main">
              <a:ext uri="{FF2B5EF4-FFF2-40B4-BE49-F238E27FC236}">
                <a16:creationId xmlns:a16="http://schemas.microsoft.com/office/drawing/2014/main" id="{B19E8DCC-1993-416F-B6B7-CC1E49557416}"/>
              </a:ext>
            </a:extLst>
          </p:cNvPr>
          <p:cNvSpPr>
            <a:spLocks xmlns:a="http://schemas.openxmlformats.org/drawingml/2006/main" noGrp="1"/>
          </p:cNvSpPr>
          <p:nvPr/>
        </p:nvSpPr>
        <p:spPr>
          <a:xfrm xmlns:a="http://schemas.openxmlformats.org/drawingml/2006/main">
            <a:off x="3971925" y="45720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82B3B"/>
                </a:solidFill>
                <a:latin typeface="DejaVu Sans"/>
                <a:ea typeface="DejaVu Sans"/>
                <a:cs typeface="DejaVu Sans"/>
              </a:defRPr>
            </a:defPPr>
          </a:lstStyle>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Liu, arXiv:2609.33401v1, 2026.</a:t>
            </a:r>
          </a:p>
          <a:p xmlns:a="http://schemas.openxmlformats.org/drawingml/2006/main">
            <a:pPr>
              <a:defRPr sz="1800" b="0">
                <a:solidFill>
                  <a:srgbClr val="182B3B"/>
                </a:solidFill>
                <a:latin typeface="DejaVu Sans"/>
                <a:ea typeface="DejaVu Sans"/>
                <a:cs typeface="DejaVu Sans"/>
              </a:defRPr>
            </a:pPr>
            <a:r>
              <a:rPr sz="1800" b="0">
                <a:solidFill>
                  <a:srgbClr val="182B3B"/>
                </a:solidFill>
                <a:latin typeface="DejaVu Sans"/>
                <a:ea typeface="DejaVu Sans"/>
                <a:cs typeface="DejaVu Sans"/>
              </a:rPr>
              <a:t>Исследование решений в задачах безопасности</a:t>
            </a:r>
          </a:p>
        </p:txBody>
      </p:sp>
      <p:sp>
        <p:nvSpPr>
          <p:cNvPr id="10" name="">
            <a:extLst xmlns:a="http://schemas.openxmlformats.org/drawingml/2006/main">
              <a:ext uri="{FF2B5EF4-FFF2-40B4-BE49-F238E27FC236}">
                <a16:creationId xmlns:a16="http://schemas.microsoft.com/office/drawing/2014/main" id="{D0731503-2E4B-4F4E-9911-FCA3578A7A31}"/>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00" b="0">
                <a:solidFill>
                  <a:srgbClr val="182B3B"/>
                </a:solidFill>
                <a:latin typeface="DejaVu Sans"/>
                <a:ea typeface="DejaVu Sans"/>
                <a:cs typeface="DejaVu Sans"/>
              </a:defRPr>
            </a:defPPr>
          </a:lstStyle>
          <a:p xmlns:a="http://schemas.openxmlformats.org/drawingml/2006/main">
            <a:pPr>
              <a:defRPr sz="1700" b="0">
                <a:solidFill>
                  <a:srgbClr val="182B3B"/>
                </a:solidFill>
                <a:latin typeface="DejaVu Sans"/>
                <a:ea typeface="DejaVu Sans"/>
                <a:cs typeface="DejaVu Sans"/>
              </a:defRPr>
            </a:pPr>
            <a:r>
              <a:rPr sz="1700" b="0">
                <a:solidFill>
                  <a:srgbClr val="182B3B"/>
                </a:solidFill>
                <a:latin typeface="DejaVu Sans"/>
                <a:ea typeface="DejaVu Sans"/>
                <a:cs typeface="DejaVu Sans"/>
              </a:rPr>
              <a:t>Технические кандидаты и ограничения собраны в документации проекта</a:t>
            </a:r>
          </a:p>
        </p:txBody>
      </p:sp>
      <p:sp>
        <p:nvSpPr>
          <p:cNvPr id="11" name="">
            <a:extLst xmlns:a="http://schemas.openxmlformats.org/drawingml/2006/main">
              <a:ext uri="{FF2B5EF4-FFF2-40B4-BE49-F238E27FC236}">
                <a16:creationId xmlns:a16="http://schemas.microsoft.com/office/drawing/2014/main" id="{CF6101C0-3EA4-4673-A4E7-3B84BC50732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00" b="0">
                <a:solidFill>
                  <a:srgbClr val="5D686E"/>
                </a:solidFill>
                <a:latin typeface="DejaVu Sans"/>
                <a:ea typeface="DejaVu Sans"/>
                <a:cs typeface="DejaVu Sans"/>
              </a:defRPr>
            </a:defPPr>
          </a:lstStyle>
          <a:p xmlns:a="http://schemas.openxmlformats.org/drawingml/2006/main">
            <a:pPr>
              <a:defRPr sz="1300" b="0">
                <a:solidFill>
                  <a:srgbClr val="5D686E"/>
                </a:solidFill>
                <a:latin typeface="DejaVu Sans"/>
                <a:ea typeface="DejaVu Sans"/>
                <a:cs typeface="DejaVu Sans"/>
              </a:defRPr>
            </a:pPr>
            <a:r>
              <a:rPr sz="1300" b="0">
                <a:solidFill>
                  <a:srgbClr val="5D686E"/>
                </a:solidFill>
                <a:latin typeface="DejaVu Sans"/>
                <a:ea typeface="DejaVu Sans"/>
                <a:cs typeface="DejaVu Sans"/>
              </a:rPr>
              <a:t>В2</a:t>
            </a:r>
          </a:p>
        </p:txBody>
      </p:sp>
    </p:spTree>
    <p:extLst>
      <p:ext uri="{BB962C8B-B14F-4D97-AF65-F5344CB8AC3E}">
        <p14:creationId xmlns:p14="http://schemas.microsoft.com/office/powerpoint/2010/main" val="17109165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182B3B"/>
      </a:hlink>
      <a:folHlink>
        <a:srgbClr val="182B3B"/>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2026-10-09T17:13:52.4070000Z</dcterms:created>
  <dcterms:modified xsi:type="dcterms:W3CDTF">2026-10-09T17:13:52.4070000Z</dcterms:modified>
</coreProperties>
</file>